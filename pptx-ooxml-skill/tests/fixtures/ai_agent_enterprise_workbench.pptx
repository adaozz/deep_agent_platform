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3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任务效率指数</c:v>
                </c:pt>
              </c:strCache>
            </c:strRef>
          </c:tx>
          <c:spPr>
            <a:solidFill>
              <a:srgbClr val="A8F0A2"/>
            </a:solidFill>
            <a:ln>
              <a:solidFill>
                <a:srgbClr val="A8F0A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</c:v>
                </c:pt>
                <c:pt idx="1">
                  <c:v>68</c:v>
                </c:pt>
                <c:pt idx="2">
                  <c:v>82</c:v>
                </c:pt>
                <c:pt idx="3">
                  <c:v>94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7454F"/>
            </a:solidFill>
          </a:ln>
        </c:spPr>
        <c:txPr>
          <a:bodyPr/>
          <a:lstStyle/>
          <a:p>
            <a:pPr>
              <a:defRPr sz="1100">
                <a:solidFill>
                  <a:srgbClr val="9DB6C4"/>
                </a:solidFill>
                <a:latin typeface="Noto Sans CJK S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title>
          <c:tx>
            <c:rich>
              <a:bodyPr/>
              <a:lstStyle/>
              <a:p>
                <a:r>
                  <a:rPr sz="1100">
                    <a:solidFill>
                      <a:srgbClr val="9DB6C4"/>
                    </a:solidFill>
                    <a:latin typeface="Noto Sans CJK SC"/>
                  </a:rPr>
                  <a:t>指数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27454F"/>
            </a:solidFill>
          </a:ln>
        </c:spPr>
        <c:txPr>
          <a:bodyPr/>
          <a:lstStyle/>
          <a:p>
            <a:pPr>
              <a:defRPr sz="1100">
                <a:solidFill>
                  <a:srgbClr val="9DB6C4"/>
                </a:solidFill>
                <a:latin typeface="Noto Sans CJK SC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12.sv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10.png"/><Relationship Id="rId11" Type="http://schemas.openxmlformats.org/officeDocument/2006/relationships/image" Target="../media/image11.svg"/><Relationship Id="rId12" Type="http://schemas.openxmlformats.org/officeDocument/2006/relationships/image" Target="../media/image12.png"/><Relationship Id="rId13" Type="http://schemas.openxmlformats.org/officeDocument/2006/relationships/image" Target="../media/image13.svg"/><Relationship Id="rId14" Type="http://schemas.openxmlformats.org/officeDocument/2006/relationships/image" Target="../media/image1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svg"/><Relationship Id="rId4" Type="http://schemas.openxmlformats.org/officeDocument/2006/relationships/image" Target="../media/image5.png"/><Relationship Id="rId5" Type="http://schemas.openxmlformats.org/officeDocument/2006/relationships/image" Target="../media/image16.svg"/><Relationship Id="rId6" Type="http://schemas.openxmlformats.org/officeDocument/2006/relationships/image" Target="../media/image8.png"/><Relationship Id="rId7" Type="http://schemas.openxmlformats.org/officeDocument/2006/relationships/image" Target="../media/image17.svg"/><Relationship Id="rId8" Type="http://schemas.openxmlformats.org/officeDocument/2006/relationships/image" Target="../media/image10.png"/><Relationship Id="rId9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slide-001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da:cover-rule" descr="{&quot;id&quot;: &quot;cover-rule&quot;, &quot;shape&quot;: &quot;rectangle&quot;, &quot;fill_token&quot;: &quot;accent&quot;, &quot;layer&quot;: &quot;decoration&quot;, &quot;geometry&quot;: {&quot;x&quot;: 0.07, &quot;y&quot;: 0.175, &quot;w&quot;: 0.18, &quot;h&quot;: 0.006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853440" y="1268730"/>
            <a:ext cx="1463040" cy="34290"/>
          </a:xfrm>
          <a:prstGeom prst="rect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a:cover-kicker" descr="{&quot;id&quot;: &quot;cover-kicker&quot;, &quot;text&quot;: &quot;ENTERPRISE AI WORKBENCH · 2026&quot;, &quot;style&quot;: &quot;kicker&quot;, &quot;anchor&quot;: &quot;kicker&quot;, &quot;kind&quot;: &quot;text&quot;, &quot;resolved_style&quot;: {&quot;style_token&quot;: &quot;kicker&quot;, &quot;font_family&quot;: &quot;Noto Sans CJK SC&quot;, &quot;font_size&quot;: 11.0, &quot;bold&quot;: true, &quot;color&quot;: &quot;9DB6C4&quot;, &quot;line_height&quot;: 1.2, &quot;letter_spacing&quot;: 2.2}}"/>
          <p:cNvSpPr txBox="1"/>
          <p:nvPr/>
        </p:nvSpPr>
        <p:spPr>
          <a:xfrm>
            <a:off x="853440" y="857250"/>
            <a:ext cx="6096000" cy="3977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1" spc="220">
                <a:solidFill>
                  <a:srgbClr val="9DB6C4"/>
                </a:solidFill>
                <a:latin typeface="Noto Sans CJK SC"/>
                <a:ea typeface="Noto Sans CJK SC"/>
              </a:rPr>
              <a:t>ENTERPRISE AI WORKBENCH · 2026</a:t>
            </a:r>
          </a:p>
        </p:txBody>
      </p:sp>
      <p:sp>
        <p:nvSpPr>
          <p:cNvPr id="5" name="da:cover-title" descr="{&quot;id&quot;: &quot;cover-title&quot;, &quot;text&quot;: &quot;AI Agent 企业工作台&quot;, &quot;style&quot;: &quot;cover_title&quot;, &quot;anchor&quot;: &quot;title&quot;, &quot;kind&quot;: &quot;text&quot;, &quot;resolved_style&quot;: {&quot;style_token&quot;: &quot;cover_title&quot;, &quot;font_family&quot;: &quot;Noto Sans CJK SC&quot;, &quot;font_size&quot;: 44.0, &quot;bold&quot;: true, &quot;color&quot;: &quot;F2FBF6&quot;, &quot;line_height&quot;: 1.12, &quot;letter_spacing&quot;: null}}"/>
          <p:cNvSpPr txBox="1"/>
          <p:nvPr/>
        </p:nvSpPr>
        <p:spPr>
          <a:xfrm>
            <a:off x="853440" y="1405890"/>
            <a:ext cx="7559039" cy="78867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93300"/>
              </a:lnSpc>
              <a:spcAft>
                <a:spcPts val="400"/>
              </a:spcAft>
            </a:pPr>
            <a:r>
              <a:rPr sz="4400" b="1">
                <a:solidFill>
                  <a:srgbClr val="F2FBF6"/>
                </a:solidFill>
                <a:latin typeface="Noto Sans CJK SC"/>
                <a:ea typeface="Noto Sans CJK SC"/>
              </a:rPr>
              <a:t>AI Agent 企业工作台</a:t>
            </a:r>
          </a:p>
        </p:txBody>
      </p:sp>
      <p:sp>
        <p:nvSpPr>
          <p:cNvPr id="6" name="da:cover-sub" descr="{&quot;id&quot;: &quot;cover-sub&quot;, &quot;text&quot;: &quot;从自然语言到可信交付\n可授权 · 可审查 · 可追溯&quot;, &quot;style&quot;: &quot;body&quot;, &quot;anchor&quot;: &quot;subtitle&quot;, &quot;kind&quot;: &quot;tex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SpPr txBox="1"/>
          <p:nvPr/>
        </p:nvSpPr>
        <p:spPr>
          <a:xfrm>
            <a:off x="853440" y="2743200"/>
            <a:ext cx="6827519" cy="9601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从自然语言到可信交付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可授权 · 可审查 · 可追溯</a:t>
            </a:r>
          </a:p>
        </p:txBody>
      </p:sp>
      <p:sp>
        <p:nvSpPr>
          <p:cNvPr id="7" name="da:cover-foot" descr="{&quot;id&quot;: &quot;cover-foot&quot;, &quot;text&quot;: &quot;内部方案演示 ｜ 01 / 12&quot;, &quot;style&quot;: &quot;caption&quot;, &quot;anchor&quot;: &quot;footer&quot;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731520" y="6172200"/>
            <a:ext cx="10728959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内部方案演示 ｜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slide-002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:p2-kicker" descr="{&quot;id&quot;: &quot;p2-kicker&quot;, &quot;text&quot;: &quot;核心观点 / THESIS&quot;, &quot;style&quot;: &quot;caption&quot;, &quot;geometry&quot;: {&quot;x&quot;: 0.07, &quot;y&quot;: 0.12, &quot;w&quot;: 0.4, &quot;h&quot;: 0.0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853440" y="822960"/>
            <a:ext cx="4876800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核心观点 / THESIS</a:t>
            </a:r>
          </a:p>
        </p:txBody>
      </p:sp>
      <p:sp>
        <p:nvSpPr>
          <p:cNvPr id="3" name="da:p2-bar" descr="{&quot;id&quot;: &quot;p2-bar&quot;, &quot;shape&quot;: &quot;rectangle&quot;, &quot;fill_token&quot;: &quot;accent&quot;, &quot;layer&quot;: &quot;decoration&quot;, &quot;geometry&quot;: {&quot;x&quot;: 0.068, &quot;y&quot;: 0.305, &quot;w&quot;: 0.006, &quot;h&quot;: 0.17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829056" y="2091690"/>
            <a:ext cx="73152" cy="1200150"/>
          </a:xfrm>
          <a:prstGeom prst="rect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a:p2-statement" descr="{&quot;id&quot;: &quot;p2-statement&quot;, &quot;text&quot;: &quot;AI Agent 的价值\n不在对话，而在可验证的交付。&quot;, &quot;style&quot;: &quot;statement&quot;, &quot;anchor&quot;: &quot;statement&quot;, &quot;kind&quot;: &quot;text&quot;, &quot;resolved_style&quot;: {&quot;style_token&quot;: &quot;statement&quot;, &quot;font_family&quot;: &quot;Noto Sans CJK SC&quot;, &quot;font_size&quot;: 38.0, &quot;bold&quot;: true, &quot;color&quot;: &quot;F2FBF6&quot;, &quot;line_height&quot;: 1.25, &quot;letter_spacing&quot;: null}}"/>
          <p:cNvSpPr txBox="1"/>
          <p:nvPr/>
        </p:nvSpPr>
        <p:spPr>
          <a:xfrm>
            <a:off x="1330037" y="2088570"/>
            <a:ext cx="9531924" cy="201064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4200"/>
              </a:lnSpc>
              <a:spcAft>
                <a:spcPts val="400"/>
              </a:spcAft>
            </a:pPr>
            <a:r>
              <a:rPr sz="3800" b="1">
                <a:solidFill>
                  <a:srgbClr val="F2FBF6"/>
                </a:solidFill>
                <a:latin typeface="Noto Sans CJK SC"/>
                <a:ea typeface="Noto Sans CJK SC"/>
              </a:rPr>
              <a:t>AI Agent 的价值</a:t>
            </a:r>
          </a:p>
          <a:p>
            <a:pPr>
              <a:lnSpc>
                <a:spcPct val="104200"/>
              </a:lnSpc>
              <a:spcAft>
                <a:spcPts val="400"/>
              </a:spcAft>
            </a:pPr>
            <a:r>
              <a:rPr sz="3800" b="1">
                <a:solidFill>
                  <a:srgbClr val="F2FBF6"/>
                </a:solidFill>
                <a:latin typeface="Noto Sans CJK SC"/>
                <a:ea typeface="Noto Sans CJK SC"/>
              </a:rPr>
              <a:t>不在对话，而在可验证的交付。</a:t>
            </a:r>
          </a:p>
        </p:txBody>
      </p:sp>
      <p:sp>
        <p:nvSpPr>
          <p:cNvPr id="5" name="da:p2-support" descr="{&quot;id&quot;: &quot;p2-support&quot;, &quot;text&quot;: &quot;企业需要的不是一次回答，而是一条从意图到产物、从权限到记录都能被复核的执行链。&quot;, &quot;style&quot;: &quot;body_small&quot;, &quot;anchor&quot;: &quot;support&quot;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1330037" y="4367298"/>
            <a:ext cx="8340437" cy="80425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企业需要的不是一次回答，而是一条从意图到产物、从权限到记录都能被复核的执行链。</a:t>
            </a:r>
          </a:p>
        </p:txBody>
      </p:sp>
      <p:sp>
        <p:nvSpPr>
          <p:cNvPr id="6" name="da:p2-foot" descr="{&quot;id&quot;: &quot;p2-foot&quot;, &quot;text&quot;: &quot;内部方案演示 ｜ 02 / 12&quot;, &quot;style&quot;: &quot;caption&quot;, &quot;anchor&quot;: &quot;footer&quot;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1219200" y="6172200"/>
            <a:ext cx="9753599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内部方案演示 ｜ 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slide-003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:p3-title" descr="{&quot;id&quot;: &quot;p3-title&quot;, &quot;text&quot;: &quot;企业 Agent 落地，卡在四个“不可信”环节&quot;, &quot;style&quot;: &quot;slide_title&quot;, &quot;anchor&quot;: &quot;title&quot;, &quot;kind&quot;: &quot;text&quot;, &quot;resolved_style&quot;: {&quot;style_token&quot;: &quot;slide_title&quot;, &quot;font_family&quot;: &quot;Noto Sans CJK SC&quot;, &quot;font_size&quot;: 32.0, &quot;bold&quot;: true, &quot;color&quot;: &quot;F2FBF6&quot;, &quot;line_height&quot;: 1.2, &quot;letter_spacing&quot;: null}}"/>
          <p:cNvSpPr txBox="1"/>
          <p:nvPr/>
        </p:nvSpPr>
        <p:spPr>
          <a:xfrm>
            <a:off x="853440" y="480060"/>
            <a:ext cx="10485119" cy="80425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2FBF6"/>
                </a:solidFill>
                <a:latin typeface="Noto Sans CJK SC"/>
                <a:ea typeface="Noto Sans CJK SC"/>
              </a:rPr>
              <a:t>企业 Agent 落地，卡在四个“不可信”环节</a:t>
            </a:r>
          </a:p>
        </p:txBody>
      </p:sp>
      <p:sp>
        <p:nvSpPr>
          <p:cNvPr id="3" name="da:p3-card1" descr="{&quot;id&quot;: &quot;p3-card1&quot;, &quot;shape&quot;: &quot;rounded_rectangle&quot;, &quot;fill_token&quot;: &quot;card&quot;, &quot;layer&quot;: &quot;background&quot;, &quot;geometry&quot;: {&quot;x&quot;: 0.07, &quot;y&quot;: 0.226364, &quot;w&quot;: 0.410455, &quot;h&quot;: 0.30295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853440" y="1552404"/>
            <a:ext cx="5004267" cy="2077665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a:p3-bar1" descr="{&quot;id&quot;: &quot;p3-bar1&quot;, &quot;shape&quot;: &quot;rectangle&quot;, &quot;fill_token&quot;: &quot;accent&quot;, &quot;layer&quot;: &quot;decoration&quot;, &quot;geometry&quot;: {&quot;x&quot;: 0.082, &quot;y&quot;: 0.284364, &quot;w&quot;: 0.06, &quot;h&quot;: 0.003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999744" y="1950168"/>
            <a:ext cx="731520" cy="24003"/>
          </a:xfrm>
          <a:prstGeom prst="rect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:p3-num1" descr="{&quot;id&quot;: &quot;p3-num1&quot;, &quot;text&quot;: &quot;01&quot;, &quot;style&quot;: &quot;caption&quot;, &quot;geometry&quot;: {&quot;x&quot;: 0.082, &quot;y&quot;: 0.24336400000000002, &quot;w&quot;: 0.2, &quot;h&quot;: 0.03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999744" y="1668990"/>
            <a:ext cx="2438400" cy="24003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6" name="da:p3-head1" descr="{&quot;id&quot;: &quot;p3-head1&quot;, &quot;text&quot;: &quot;权限边界不清&quot;, &quot;style&quot;: &quot;card_title&quot;, &quot;geometry&quot;: {&quot;x&quot;: 0.082, &quot;y&quot;: 0.298364, &quot;w&quot;: 0.386455, &quot;h&quot;: 0.06}, &quot;kind&quot;: &quot;text&quot;, &quot;resolved_style&quot;: {&quot;style_token&quot;: &quot;card_title&quot;, &quot;font_family&quot;: &quot;Noto Sans CJK SC&quot;, &quot;font_size&quot;: 22.0, &quot;bold&quot;: true, &quot;color&quot;: &quot;A8F0A2&quot;, &quot;line_height&quot;: 1.2, &quot;letter_spacing&quot;: null}}"/>
          <p:cNvSpPr txBox="1"/>
          <p:nvPr/>
        </p:nvSpPr>
        <p:spPr>
          <a:xfrm>
            <a:off x="999744" y="2046180"/>
            <a:ext cx="4711659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A8F0A2"/>
                </a:solidFill>
                <a:latin typeface="Noto Sans CJK SC"/>
                <a:ea typeface="Noto Sans CJK SC"/>
              </a:rPr>
              <a:t>权限边界不清</a:t>
            </a:r>
          </a:p>
        </p:txBody>
      </p:sp>
      <p:sp>
        <p:nvSpPr>
          <p:cNvPr id="7" name="da:p3-desc1" descr="{&quot;id&quot;: &quot;p3-desc1&quot;, &quot;text&quot;: &quot;工具能做什么、能碰哪些数据，\n缺少可执行的授权规则。&quot;, &quot;style&quot;: &quot;body_small&quot;, &quot;geometry&quot;: {&quot;x&quot;: 0.082, &quot;y&quot;: 0.37636400000000003, &quot;w&quot;: 0.386455, &quot;h&quot;: 0.14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999744" y="2581104"/>
            <a:ext cx="4711659" cy="9601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工具能做什么、能碰哪些数据，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缺少可执行的授权规则。</a:t>
            </a:r>
          </a:p>
        </p:txBody>
      </p:sp>
      <p:sp>
        <p:nvSpPr>
          <p:cNvPr id="8" name="da:p3-card2" descr="{&quot;id&quot;: &quot;p3-card2&quot;, &quot;shape&quot;: &quot;rounded_rectangle&quot;, &quot;fill_token&quot;: &quot;card&quot;, &quot;layer&quot;: &quot;background&quot;, &quot;geometry&quot;: {&quot;x&quot;: 0.519545, &quot;y&quot;: 0.226364, &quot;w&quot;: 0.410455, &quot;h&quot;: 0.30295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6334292" y="1552404"/>
            <a:ext cx="5004267" cy="2077665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:p3-bar2" descr="{&quot;id&quot;: &quot;p3-bar2&quot;, &quot;shape&quot;: &quot;rectangle&quot;, &quot;fill_token&quot;: &quot;accent&quot;, &quot;layer&quot;: &quot;decoration&quot;, &quot;geometry&quot;: {&quot;x&quot;: 0.531545, &quot;y&quot;: 0.284364, &quot;w&quot;: 0.06, &quot;h&quot;: 0.003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6480596" y="1950168"/>
            <a:ext cx="731520" cy="24003"/>
          </a:xfrm>
          <a:prstGeom prst="rect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a:p3-num2" descr="{&quot;id&quot;: &quot;p3-num2&quot;, &quot;text&quot;: &quot;02&quot;, &quot;style&quot;: &quot;caption&quot;, &quot;geometry&quot;: {&quot;x&quot;: 0.531545, &quot;y&quot;: 0.24336400000000002, &quot;w&quot;: 0.2, &quot;h&quot;: 0.03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6480596" y="1668990"/>
            <a:ext cx="2438400" cy="24003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1" name="da:p3-head2" descr="{&quot;id&quot;: &quot;p3-head2&quot;, &quot;text&quot;: &quot;过程难以观察&quot;, &quot;style&quot;: &quot;card_title&quot;, &quot;geometry&quot;: {&quot;x&quot;: 0.531545, &quot;y&quot;: 0.298364, &quot;w&quot;: 0.386455, &quot;h&quot;: 0.06}, &quot;kind&quot;: &quot;text&quot;, &quot;resolved_style&quot;: {&quot;style_token&quot;: &quot;card_title&quot;, &quot;font_family&quot;: &quot;Noto Sans CJK SC&quot;, &quot;font_size&quot;: 22.0, &quot;bold&quot;: true, &quot;color&quot;: &quot;A8F0A2&quot;, &quot;line_height&quot;: 1.2, &quot;letter_spacing&quot;: null}}"/>
          <p:cNvSpPr txBox="1"/>
          <p:nvPr/>
        </p:nvSpPr>
        <p:spPr>
          <a:xfrm>
            <a:off x="6480596" y="2046180"/>
            <a:ext cx="4711659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A8F0A2"/>
                </a:solidFill>
                <a:latin typeface="Noto Sans CJK SC"/>
                <a:ea typeface="Noto Sans CJK SC"/>
              </a:rPr>
              <a:t>过程难以观察</a:t>
            </a:r>
          </a:p>
        </p:txBody>
      </p:sp>
      <p:sp>
        <p:nvSpPr>
          <p:cNvPr id="12" name="da:p3-desc2" descr="{&quot;id&quot;: &quot;p3-desc2&quot;, &quot;text&quot;: &quot;执行到哪一步、调用了什么，\n用户只能看到最终结果。&quot;, &quot;style&quot;: &quot;body_small&quot;, &quot;geometry&quot;: {&quot;x&quot;: 0.531545, &quot;y&quot;: 0.37636400000000003, &quot;w&quot;: 0.386455, &quot;h&quot;: 0.14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6480596" y="2581104"/>
            <a:ext cx="4711659" cy="9601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执行到哪一步、调用了什么，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用户只能看到最终结果。</a:t>
            </a:r>
          </a:p>
        </p:txBody>
      </p:sp>
      <p:sp>
        <p:nvSpPr>
          <p:cNvPr id="13" name="da:p3-card3" descr="{&quot;id&quot;: &quot;p3-card3&quot;, &quot;shape&quot;: &quot;rounded_rectangle&quot;, &quot;fill_token&quot;: &quot;card&quot;, &quot;layer&quot;: &quot;background&quot;, &quot;geometry&quot;: {&quot;x&quot;: 0.07, &quot;y&quot;: 0.558636, &quot;w&quot;: 0.410455, &quot;h&quot;: 0.30295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853440" y="3831126"/>
            <a:ext cx="5004267" cy="2077665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a:p3-bar3" descr="{&quot;id&quot;: &quot;p3-bar3&quot;, &quot;shape&quot;: &quot;rectangle&quot;, &quot;fill_token&quot;: &quot;accent&quot;, &quot;layer&quot;: &quot;decoration&quot;, &quot;geometry&quot;: {&quot;x&quot;: 0.082, &quot;y&quot;: 0.6166360000000001, &quot;w&quot;: 0.06, &quot;h&quot;: 0.003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999744" y="4228890"/>
            <a:ext cx="731520" cy="24003"/>
          </a:xfrm>
          <a:prstGeom prst="rect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a:p3-num3" descr="{&quot;id&quot;: &quot;p3-num3&quot;, &quot;text&quot;: &quot;03&quot;, &quot;style&quot;: &quot;caption&quot;, &quot;geometry&quot;: {&quot;x&quot;: 0.082, &quot;y&quot;: 0.575636, &quot;w&quot;: 0.2, &quot;h&quot;: 0.03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999744" y="3947712"/>
            <a:ext cx="2438400" cy="24003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6" name="da:p3-head3" descr="{&quot;id&quot;: &quot;p3-head3&quot;, &quot;text&quot;: &quot;产物缺少校验&quot;, &quot;style&quot;: &quot;card_title&quot;, &quot;geometry&quot;: {&quot;x&quot;: 0.082, &quot;y&quot;: 0.630636, &quot;w&quot;: 0.386455, &quot;h&quot;: 0.06}, &quot;kind&quot;: &quot;text&quot;, &quot;resolved_style&quot;: {&quot;style_token&quot;: &quot;card_title&quot;, &quot;font_family&quot;: &quot;Noto Sans CJK SC&quot;, &quot;font_size&quot;: 22.0, &quot;bold&quot;: true, &quot;color&quot;: &quot;A8F0A2&quot;, &quot;line_height&quot;: 1.2, &quot;letter_spacing&quot;: null}}"/>
          <p:cNvSpPr txBox="1"/>
          <p:nvPr/>
        </p:nvSpPr>
        <p:spPr>
          <a:xfrm>
            <a:off x="999744" y="4324902"/>
            <a:ext cx="4711659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A8F0A2"/>
                </a:solidFill>
                <a:latin typeface="Noto Sans CJK SC"/>
                <a:ea typeface="Noto Sans CJK SC"/>
              </a:rPr>
              <a:t>产物缺少校验</a:t>
            </a:r>
          </a:p>
        </p:txBody>
      </p:sp>
      <p:sp>
        <p:nvSpPr>
          <p:cNvPr id="17" name="da:p3-desc3" descr="{&quot;id&quot;: &quot;p3-desc3&quot;, &quot;text&quot;: &quot;文件是否可打开、内容是否越界，\n缺少自动与人工双重检查。&quot;, &quot;style&quot;: &quot;body_small&quot;, &quot;geometry&quot;: {&quot;x&quot;: 0.082, &quot;y&quot;: 0.708636, &quot;w&quot;: 0.386455, &quot;h&quot;: 0.14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999744" y="4859826"/>
            <a:ext cx="4711659" cy="9601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文件是否可打开、内容是否越界，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缺少自动与人工双重检查。</a:t>
            </a:r>
          </a:p>
        </p:txBody>
      </p:sp>
      <p:sp>
        <p:nvSpPr>
          <p:cNvPr id="18" name="da:p3-card4" descr="{&quot;id&quot;: &quot;p3-card4&quot;, &quot;shape&quot;: &quot;rounded_rectangle&quot;, &quot;fill_token&quot;: &quot;card&quot;, &quot;layer&quot;: &quot;background&quot;, &quot;geometry&quot;: {&quot;x&quot;: 0.519545, &quot;y&quot;: 0.558636, &quot;w&quot;: 0.410455, &quot;h&quot;: 0.30295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6334292" y="3831126"/>
            <a:ext cx="5004267" cy="2077665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a:p3-bar4" descr="{&quot;id&quot;: &quot;p3-bar4&quot;, &quot;shape&quot;: &quot;rectangle&quot;, &quot;fill_token&quot;: &quot;accent&quot;, &quot;layer&quot;: &quot;decoration&quot;, &quot;geometry&quot;: {&quot;x&quot;: 0.531545, &quot;y&quot;: 0.6166360000000001, &quot;w&quot;: 0.06, &quot;h&quot;: 0.003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6480596" y="4228890"/>
            <a:ext cx="731520" cy="24003"/>
          </a:xfrm>
          <a:prstGeom prst="rect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a:p3-num4" descr="{&quot;id&quot;: &quot;p3-num4&quot;, &quot;text&quot;: &quot;04&quot;, &quot;style&quot;: &quot;caption&quot;, &quot;geometry&quot;: {&quot;x&quot;: 0.531545, &quot;y&quot;: 0.575636, &quot;w&quot;: 0.2, &quot;h&quot;: 0.03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6480596" y="3947712"/>
            <a:ext cx="2438400" cy="24003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1" name="da:p3-head4" descr="{&quot;id&quot;: &quot;p3-head4&quot;, &quot;text&quot;: &quot;记录无法追溯&quot;, &quot;style&quot;: &quot;card_title&quot;, &quot;geometry&quot;: {&quot;x&quot;: 0.531545, &quot;y&quot;: 0.630636, &quot;w&quot;: 0.386455, &quot;h&quot;: 0.06}, &quot;kind&quot;: &quot;text&quot;, &quot;resolved_style&quot;: {&quot;style_token&quot;: &quot;card_title&quot;, &quot;font_family&quot;: &quot;Noto Sans CJK SC&quot;, &quot;font_size&quot;: 22.0, &quot;bold&quot;: true, &quot;color&quot;: &quot;A8F0A2&quot;, &quot;line_height&quot;: 1.2, &quot;letter_spacing&quot;: null}}"/>
          <p:cNvSpPr txBox="1"/>
          <p:nvPr/>
        </p:nvSpPr>
        <p:spPr>
          <a:xfrm>
            <a:off x="6480596" y="4324902"/>
            <a:ext cx="4711659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A8F0A2"/>
                </a:solidFill>
                <a:latin typeface="Noto Sans CJK SC"/>
                <a:ea typeface="Noto Sans CJK SC"/>
              </a:rPr>
              <a:t>记录无法追溯</a:t>
            </a:r>
          </a:p>
        </p:txBody>
      </p:sp>
      <p:sp>
        <p:nvSpPr>
          <p:cNvPr id="22" name="da:p3-desc4" descr="{&quot;id&quot;: &quot;p3-desc4&quot;, &quot;text&quot;: &quot;谁改了什么、哪一版被交付，\n无法回溯与复现。&quot;, &quot;style&quot;: &quot;body_small&quot;, &quot;geometry&quot;: {&quot;x&quot;: 0.531545, &quot;y&quot;: 0.708636, &quot;w&quot;: 0.386455, &quot;h&quot;: 0.14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6480596" y="4859826"/>
            <a:ext cx="4711659" cy="9601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谁改了什么、哪一版被交付，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无法回溯与复现。</a:t>
            </a:r>
          </a:p>
        </p:txBody>
      </p:sp>
      <p:sp>
        <p:nvSpPr>
          <p:cNvPr id="23" name="da:p3-foot" descr="{&quot;id&quot;: &quot;p3-foot&quot;, &quot;text&quot;: &quot;内部方案演示 ｜ 03 / 12&quot;, &quot;style&quot;: &quot;caption&quot;, &quot;anchor&quot;: &quot;footer&quot;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731520" y="6309360"/>
            <a:ext cx="10728959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内部方案演示 ｜ 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slide-004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:p4-title" descr="{&quot;id&quot;: &quot;p4-title&quot;, &quot;text&quot;: &quot;五层结构，让每一次执行都有边界&quot;, &quot;style&quot;: &quot;slide_title&quot;, &quot;anchor&quot;: &quot;title&quot;, &quot;kind&quot;: &quot;text&quot;, &quot;resolved_style&quot;: {&quot;style_token&quot;: &quot;slide_title&quot;, &quot;font_family&quot;: &quot;Noto Sans CJK SC&quot;, &quot;font_size&quot;: 32.0, &quot;bold&quot;: true, &quot;color&quot;: &quot;F2FBF6&quot;, &quot;line_height&quot;: 1.2, &quot;letter_spacing&quot;: null}}"/>
          <p:cNvSpPr txBox="1"/>
          <p:nvPr/>
        </p:nvSpPr>
        <p:spPr>
          <a:xfrm>
            <a:off x="853440" y="480060"/>
            <a:ext cx="10485119" cy="93829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2FBF6"/>
                </a:solidFill>
                <a:latin typeface="Noto Sans CJK SC"/>
                <a:ea typeface="Noto Sans CJK SC"/>
              </a:rPr>
              <a:t>五层结构，让每一次执行都有边界</a:t>
            </a:r>
          </a:p>
        </p:txBody>
      </p:sp>
      <p:sp>
        <p:nvSpPr>
          <p:cNvPr id="3" name="da:p4-web-card" descr="{&quot;id&quot;: &quot;p4-web-card&quot;, &quot;shape&quot;: &quot;rounded_rectangle&quot;, &quot;fill_token&quot;: &quot;card&quot;, &quot;layer&quot;: &quot;background&quot;, &quot;geometry&quot;: {&quot;x&quot;: 0.07, &quot;y&quot;: 0.21600000000000003, &quot;w&quot;: 0.6, &quot;h&quot;: 0.096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853440" y="1481328"/>
            <a:ext cx="7315199" cy="658368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a:p4-web-bar" descr="{&quot;id&quot;: &quot;p4-web-bar&quot;, &quot;shape&quot;: &quot;rectangle&quot;, &quot;fill_token&quot;: &quot;accent&quot;, &quot;layer&quot;: &quot;decoration&quot;, &quot;geometry&quot;: {&quot;x&quot;: 0.115, &quot;y&quot;: 0.22933333333333336, &quot;w&quot;: 0.0025, &quot;h&quot;: 0.06933333333333333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1402080" y="1572768"/>
            <a:ext cx="30480" cy="475488"/>
          </a:xfrm>
          <a:prstGeom prst="rect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:p4-web-num" descr="{&quot;id&quot;: &quot;p4-web-num&quot;, &quot;text&quot;: &quot;01&quot;, &quot;style&quot;: &quot;caption&quot;, &quot;geometry&quot;: {&quot;x&quot;: 0.085, &quot;y&quot;: 0.22666666666666668, &quot;w&quot;: 0.03, &quot;h&quot;: 0.0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1036320" y="1554480"/>
            <a:ext cx="365760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6" name="da:p4-web-name" descr="{&quot;id&quot;: &quot;p4-web-name&quot;, &quot;text&quot;: &quot;Web 交互层&quot;, &quot;style&quot;: &quot;body&quot;, &quot;geometry&quot;: {&quot;x&quot;: 0.135, &quot;y&quot;: 0.2306666666666667, &quot;w&quot;: 0.18, &quot;h&quot;: 0.06}, &quot;kind&quot;: &quot;tex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SpPr txBox="1"/>
          <p:nvPr/>
        </p:nvSpPr>
        <p:spPr>
          <a:xfrm>
            <a:off x="1584960" y="1581912"/>
            <a:ext cx="2865120" cy="4800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Web 交互层</a:t>
            </a:r>
          </a:p>
        </p:txBody>
      </p:sp>
      <p:sp>
        <p:nvSpPr>
          <p:cNvPr id="7" name="da:p4-web-desc" descr="{&quot;id&quot;: &quot;p4-web-desc&quot;, &quot;text&quot;: &quot;任务下达、过程可视、产物预览&quot;, &quot;style&quot;: &quot;body_small&quot;, &quot;geometry&quot;: {&quot;x&quot;: 0.315, &quot;y&quot;: 0.23333333333333334, &quot;w&quot;: 0.33, &quot;h&quot;: 0.06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4572000" y="1600200"/>
            <a:ext cx="335280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任务下达、过程可视、产物预览</a:t>
            </a:r>
          </a:p>
        </p:txBody>
      </p:sp>
      <p:sp>
        <p:nvSpPr>
          <p:cNvPr id="8" name="da:p4-agent-card" descr="{&quot;id&quot;: &quot;p4-agent-card&quot;, &quot;shape&quot;: &quot;rounded_rectangle&quot;, &quot;fill_token&quot;: &quot;card&quot;, &quot;layer&quot;: &quot;background&quot;, &quot;geometry&quot;: {&quot;x&quot;: 0.07, &quot;y&quot;: 0.336, &quot;w&quot;: 0.6, &quot;h&quot;: 0.096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853440" y="2304288"/>
            <a:ext cx="7315199" cy="658368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:p4-agent-bar" descr="{&quot;id&quot;: &quot;p4-agent-bar&quot;, &quot;shape&quot;: &quot;rectangle&quot;, &quot;fill_token&quot;: &quot;accent&quot;, &quot;layer&quot;: &quot;decoration&quot;, &quot;geometry&quot;: {&quot;x&quot;: 0.115, &quot;y&quot;: 0.34933333333333333, &quot;w&quot;: 0.0025, &quot;h&quot;: 0.06933333333333333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1402080" y="2395728"/>
            <a:ext cx="30480" cy="475488"/>
          </a:xfrm>
          <a:prstGeom prst="rect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a:p4-agent-num" descr="{&quot;id&quot;: &quot;p4-agent-num&quot;, &quot;text&quot;: &quot;02&quot;, &quot;style&quot;: &quot;caption&quot;, &quot;geometry&quot;: {&quot;x&quot;: 0.085, &quot;y&quot;: 0.3466666666666667, &quot;w&quot;: 0.03, &quot;h&quot;: 0.0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1036320" y="2377440"/>
            <a:ext cx="365760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1" name="da:p4-agent-name" descr="{&quot;id&quot;: &quot;p4-agent-name&quot;, &quot;text&quot;: &quot;Agent 执行层&quot;, &quot;style&quot;: &quot;body&quot;, &quot;geometry&quot;: {&quot;x&quot;: 0.135, &quot;y&quot;: 0.3506666666666666, &quot;w&quot;: 0.18, &quot;h&quot;: 0.06}, &quot;kind&quot;: &quot;tex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SpPr txBox="1"/>
          <p:nvPr/>
        </p:nvSpPr>
        <p:spPr>
          <a:xfrm>
            <a:off x="1584960" y="2404872"/>
            <a:ext cx="2865120" cy="4800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Agent 执行层</a:t>
            </a:r>
          </a:p>
        </p:txBody>
      </p:sp>
      <p:sp>
        <p:nvSpPr>
          <p:cNvPr id="12" name="da:p4-agent-desc" descr="{&quot;id&quot;: &quot;p4-agent-desc&quot;, &quot;text&quot;: &quot;意图理解、规划、调度与重试&quot;, &quot;style&quot;: &quot;body_small&quot;, &quot;geometry&quot;: {&quot;x&quot;: 0.315, &quot;y&quot;: 0.35333333333333333, &quot;w&quot;: 0.33, &quot;h&quot;: 0.06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4572000" y="2423160"/>
            <a:ext cx="335280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意图理解、规划、调度与重试</a:t>
            </a:r>
          </a:p>
        </p:txBody>
      </p:sp>
      <p:sp>
        <p:nvSpPr>
          <p:cNvPr id="13" name="da:p4-artifact-card" descr="{&quot;id&quot;: &quot;p4-artifact-card&quot;, &quot;shape&quot;: &quot;rounded_rectangle&quot;, &quot;fill_token&quot;: &quot;card&quot;, &quot;layer&quot;: &quot;background&quot;, &quot;geometry&quot;: {&quot;x&quot;: 0.07, &quot;y&quot;: 0.6466666666666666, &quot;w&quot;: 0.6, &quot;h&quot;: 0.096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853440" y="4672584"/>
            <a:ext cx="7315199" cy="658368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a:p4-artifact-bar" descr="{&quot;id&quot;: &quot;p4-artifact-bar&quot;, &quot;shape&quot;: &quot;rectangle&quot;, &quot;fill_token&quot;: &quot;accent&quot;, &quot;layer&quot;: &quot;decoration&quot;, &quot;geometry&quot;: {&quot;x&quot;: 0.115, &quot;y&quot;: 0.6599999999999999, &quot;w&quot;: 0.0025, &quot;h&quot;: 0.06933333333333333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1402080" y="4764024"/>
            <a:ext cx="30480" cy="411480"/>
          </a:xfrm>
          <a:prstGeom prst="rect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a:p4-artifact-num" descr="{&quot;id&quot;: &quot;p4-artifact-num&quot;, &quot;text&quot;: &quot;05&quot;, &quot;style&quot;: &quot;caption&quot;, &quot;geometry&quot;: {&quot;x&quot;: 0.085, &quot;y&quot;: 0.6573333333333333, &quot;w&quot;: 0.03, &quot;h&quot;: 0.0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975360" y="4745736"/>
            <a:ext cx="36576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16" name="da:p4-artifact-name" descr="{&quot;id&quot;: &quot;p4-artifact-name&quot;, &quot;text&quot;: &quot;Artifact 产物与版本层&quot;, &quot;style&quot;: &quot;body&quot;, &quot;geometry&quot;: {&quot;x&quot;: 0.135, &quot;y&quot;: 0.6613333333333333, &quot;w&quot;: 0.18, &quot;h&quot;: 0.06}, &quot;kind&quot;: &quot;tex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SpPr txBox="1"/>
          <p:nvPr/>
        </p:nvSpPr>
        <p:spPr>
          <a:xfrm>
            <a:off x="1584960" y="4773168"/>
            <a:ext cx="2865120" cy="4800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Artifact 产物与版本层</a:t>
            </a:r>
          </a:p>
        </p:txBody>
      </p:sp>
      <p:sp>
        <p:nvSpPr>
          <p:cNvPr id="17" name="da:p4-artifact-desc" descr="{&quot;id&quot;: &quot;p4-artifact-desc&quot;, &quot;text&quot;: &quot;落盘、快照、审查记录与回滚&quot;, &quot;style&quot;: &quot;body_small&quot;, &quot;geometry&quot;: {&quot;x&quot;: 0.315, &quot;y&quot;: 0.6639999999999999, &quot;w&quot;: 0.33, &quot;h&quot;: 0.06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4572000" y="4791456"/>
            <a:ext cx="335280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落盘、快照、审查记录与回滚</a:t>
            </a:r>
          </a:p>
        </p:txBody>
      </p:sp>
      <p:sp>
        <p:nvSpPr>
          <p:cNvPr id="18" name="da:p4-tool-card" descr="{&quot;id&quot;: &quot;p4-tool-card&quot;, &quot;shape&quot;: &quot;rounded_rectangle&quot;, &quot;fill_token&quot;: &quot;card&quot;, &quot;layer&quot;: &quot;background&quot;, &quot;geometry&quot;: {&quot;x&quot;: 0.07, &quot;y&quot;: 0.456, &quot;w&quot;: 0.279, &quot;h&quot;: 0.16666666666666666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853440" y="3108960"/>
            <a:ext cx="3401568" cy="1417320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a:p4-tool-bar" descr="{&quot;id&quot;: &quot;p4-tool-bar&quot;, &quot;shape&quot;: &quot;rectangle&quot;, &quot;fill_token&quot;: &quot;accent&quot;, &quot;layer&quot;: &quot;decoration&quot;, &quot;geometry&quot;: {&quot;x&quot;: 0.082, &quot;y&quot;: 0.46799999999999997, &quot;w&quot;: 0.05, &quot;h&quot;: 0.003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999744" y="3163824"/>
            <a:ext cx="609600" cy="20574"/>
          </a:xfrm>
          <a:prstGeom prst="rect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a:p4-tool-num" descr="{&quot;id&quot;: &quot;p4-tool-num&quot;, &quot;text&quot;: &quot;03&quot;, &quot;style&quot;: &quot;caption&quot;, &quot;geometry&quot;: {&quot;x&quot;: 0.082, &quot;y&quot;: 0.4693333333333333, &quot;w&quot;: 0.04, &quot;h&quot;: 0.04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999744" y="3200400"/>
            <a:ext cx="48768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1" name="da:p4-tool-name" descr="{&quot;id&quot;: &quot;p4-tool-name&quot;, &quot;text&quot;: &quot;Tool / Skill 能力层&quot;, &quot;style&quot;: &quot;body&quot;, &quot;geometry&quot;: {&quot;x&quot;: 0.082, &quot;y&quot;: 0.5066666666666666, &quot;w&quot;: 0.24900000000000003, &quot;h&quot;: 0.06}, &quot;kind&quot;: &quot;tex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SpPr txBox="1"/>
          <p:nvPr/>
        </p:nvSpPr>
        <p:spPr>
          <a:xfrm>
            <a:off x="999744" y="3502152"/>
            <a:ext cx="3108960" cy="4800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Tool / Skill 能力层</a:t>
            </a:r>
          </a:p>
        </p:txBody>
      </p:sp>
      <p:sp>
        <p:nvSpPr>
          <p:cNvPr id="22" name="da:p4-tool-desc" descr="{&quot;id&quot;: &quot;p4-tool-desc&quot;, &quot;text&quot;: &quot;文档、表格、演示、检索&quot;, &quot;style&quot;: &quot;body_small&quot;, &quot;geometry&quot;: {&quot;x&quot;: 0.082, &quot;y&quot;: 0.56, &quot;w&quot;: 0.24900000000000003, &quot;h&quot;: 0.04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999744" y="3995928"/>
            <a:ext cx="310896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文档、表格、演示、检索</a:t>
            </a:r>
          </a:p>
        </p:txBody>
      </p:sp>
      <p:sp>
        <p:nvSpPr>
          <p:cNvPr id="23" name="da:p4-sandbox-card" descr="{&quot;id&quot;: &quot;p4-sandbox-card&quot;, &quot;shape&quot;: &quot;rounded_rectangle&quot;, &quot;fill_token&quot;: &quot;card&quot;, &quot;layer&quot;: &quot;background&quot;, &quot;geometry&quot;: {&quot;x&quot;: 0.3825, &quot;y&quot;: 0.456, &quot;w&quot;: 0.28725, &quot;h&quot;: 0.16666666666666666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4663440" y="3108960"/>
            <a:ext cx="3502152" cy="1417320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:p4-sandbox-bar" descr="{&quot;id&quot;: &quot;p4-sandbox-bar&quot;, &quot;shape&quot;: &quot;rectangle&quot;, &quot;fill_token&quot;: &quot;accent&quot;, &quot;layer&quot;: &quot;decoration&quot;, &quot;geometry&quot;: {&quot;x&quot;: 0.3945, &quot;y&quot;: 0.46799999999999997, &quot;w&quot;: 0.05, &quot;h&quot;: 0.003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4809744" y="3163824"/>
            <a:ext cx="609600" cy="20574"/>
          </a:xfrm>
          <a:prstGeom prst="rect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:p4-sandbox-num" descr="{&quot;id&quot;: &quot;p4-sandbox-num&quot;, &quot;text&quot;: &quot;04&quot;, &quot;style&quot;: &quot;caption&quot;, &quot;geometry&quot;: {&quot;x&quot;: 0.3945, &quot;y&quot;: 0.4693333333333333, &quot;w&quot;: 0.04, &quot;h&quot;: 0.04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4809744" y="3200400"/>
            <a:ext cx="48768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6" name="da:p4-sandbox-name" descr="{&quot;id&quot;: &quot;p4-sandbox-name&quot;, &quot;text&quot;: &quot;Sandbox 执行环境&quot;, &quot;style&quot;: &quot;body&quot;, &quot;geometry&quot;: {&quot;x&quot;: 0.3945, &quot;y&quot;: 0.5066666666666666, &quot;w&quot;: 0.25725, &quot;h&quot;: 0.06}, &quot;kind&quot;: &quot;tex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SpPr txBox="1"/>
          <p:nvPr/>
        </p:nvSpPr>
        <p:spPr>
          <a:xfrm>
            <a:off x="4809744" y="3502152"/>
            <a:ext cx="3108960" cy="4800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Sandbox 执行环境</a:t>
            </a:r>
          </a:p>
        </p:txBody>
      </p:sp>
      <p:sp>
        <p:nvSpPr>
          <p:cNvPr id="27" name="da:p4-sandbox-desc" descr="{&quot;id&quot;: &quot;p4-sandbox-desc&quot;, &quot;text&quot;: &quot;隔离运行、资源限额&quot;, &quot;style&quot;: &quot;body_small&quot;, &quot;geometry&quot;: {&quot;x&quot;: 0.3945, &quot;y&quot;: 0.56, &quot;w&quot;: 0.25725, &quot;h&quot;: 0.04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4809744" y="3995928"/>
            <a:ext cx="310896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隔离运行、资源限额</a:t>
            </a:r>
          </a:p>
        </p:txBody>
      </p:sp>
      <p:cxnSp>
        <p:nvCxnSpPr>
          <p:cNvPr id="28" name="da:p4-w2a" descr="{&quot;id&quot;: &quot;p4-w2a&quot;, &quot;shape&quot;: &quot;line&quot;, &quot;fill_token&quot;: &quot;accent&quot;, &quot;layer&quot;: &quot;decoration&quot;, &quot;geometry&quot;: {&quot;x&quot;: 0.3697592439810995, &quot;y&quot;: 0.312, &quot;w&quot;: 0.003, &quot;h&quot;: 0.024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CxnSpPr/>
          <p:nvPr/>
        </p:nvCxnSpPr>
        <p:spPr>
          <a:xfrm>
            <a:off x="4526392" y="2139696"/>
            <a:ext cx="0" cy="164592"/>
          </a:xfrm>
          <a:prstGeom prst="line">
            <a:avLst/>
          </a:prstGeom>
          <a:ln w="19050">
            <a:solidFill>
              <a:srgbClr val="A8F0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a:p4-a2t" descr="{&quot;id&quot;: &quot;p4-a2t&quot;, &quot;shape&quot;: &quot;line&quot;, &quot;fill_token&quot;: &quot;accent&quot;, &quot;layer&quot;: &quot;decoration&quot;, &quot;geometry&quot;: {&quot;x&quot;: 0.20925523138078453, &quot;y&quot;: 0.43200000000000005, &quot;w&quot;: 0.003, &quot;h&quot;: 0.024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CxnSpPr/>
          <p:nvPr/>
        </p:nvCxnSpPr>
        <p:spPr>
          <a:xfrm>
            <a:off x="2551240" y="2962656"/>
            <a:ext cx="36576" cy="146304"/>
          </a:xfrm>
          <a:prstGeom prst="line">
            <a:avLst/>
          </a:prstGeom>
          <a:ln w="19050">
            <a:solidFill>
              <a:srgbClr val="A8F0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da:p4-s2r" descr="{&quot;id&quot;: &quot;p4-s2r&quot;, &quot;shape&quot;: &quot;line&quot;, &quot;fill_token&quot;: &quot;accent&quot;, &quot;layer&quot;: &quot;decoration&quot;, &quot;geometry&quot;: {&quot;x&quot;: 0.6120153003825096, &quot;y&quot;: 0.6226666666666667, &quot;w&quot;: 0.003, &quot;h&quot;: 0.024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CxnSpPr/>
          <p:nvPr/>
        </p:nvCxnSpPr>
        <p:spPr>
          <a:xfrm>
            <a:off x="7461690" y="4526280"/>
            <a:ext cx="36576" cy="146304"/>
          </a:xfrm>
          <a:prstGeom prst="line">
            <a:avLst/>
          </a:prstGeom>
          <a:ln w="19050">
            <a:solidFill>
              <a:srgbClr val="A8F0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a:p4-t2s" descr="{&quot;id&quot;: &quot;p4-t2s&quot;, &quot;shape&quot;: &quot;arrow&quot;, &quot;fill_token&quot;: &quot;accent&quot;, &quot;layer&quot;: &quot;decoration&quot;, &quot;geometry&quot;: {&quot;x&quot;: 0.35250881272031803, &quot;y&quot;: 0.5333333333333333, &quot;w&quot;: 0.026250656266406658, &quot;h&quot;: 0.029333333333333333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4297787" y="3657600"/>
            <a:ext cx="320048" cy="201168"/>
          </a:xfrm>
          <a:prstGeom prst="rightArrow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a:p4-side-bg" descr="{&quot;id&quot;: &quot;p4-side-bg&quot;, &quot;shape&quot;: &quot;rounded_rectangle&quot;, &quot;fill_token&quot;: &quot;surface&quot;, &quot;layer&quot;: &quot;background&quot;, &quot;geometry&quot;: {&quot;x&quot;: 0.69375, &quot;y&quot;: 0.216, &quot;w&quot;: 0.23625, &quot;h&quot;: 0.56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11F2B&quot;}"/>
          <p:cNvSpPr/>
          <p:nvPr/>
        </p:nvSpPr>
        <p:spPr>
          <a:xfrm>
            <a:off x="8458199" y="1481328"/>
            <a:ext cx="2880360" cy="3874770"/>
          </a:xfrm>
          <a:prstGeom prst="roundRect">
            <a:avLst/>
          </a:prstGeom>
          <a:solidFill>
            <a:srgbClr val="11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a:p4-side-title" descr="{&quot;id&quot;: &quot;p4-side-title&quot;, &quot;text&quot;: &quot;执行边界&quot;, &quot;style&quot;: &quot;card_title&quot;, &quot;geometry&quot;: {&quot;x&quot;: 0.71, &quot;y&quot;: 0.232, &quot;w&quot;: 0.2, &quot;h&quot;: 0.05}, &quot;kind&quot;: &quot;text&quot;, &quot;resolved_style&quot;: {&quot;style_token&quot;: &quot;card_title&quot;, &quot;font_family&quot;: &quot;Noto Sans CJK SC&quot;, &quot;font_size&quot;: 22.0, &quot;bold&quot;: true, &quot;color&quot;: &quot;A8F0A2&quot;, &quot;line_height&quot;: 1.2, &quot;letter_spacing&quot;: null}}"/>
          <p:cNvSpPr txBox="1"/>
          <p:nvPr/>
        </p:nvSpPr>
        <p:spPr>
          <a:xfrm>
            <a:off x="8656319" y="1591056"/>
            <a:ext cx="2438400" cy="4800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A8F0A2"/>
                </a:solidFill>
                <a:latin typeface="Noto Sans CJK SC"/>
                <a:ea typeface="Noto Sans CJK SC"/>
              </a:rPr>
              <a:t>执行边界</a:t>
            </a:r>
          </a:p>
        </p:txBody>
      </p:sp>
      <p:sp>
        <p:nvSpPr>
          <p:cNvPr id="34" name="da:p4-side-list" descr="{&quot;id&quot;: &quot;p4-side-list&quot;, &quot;text&quot;: &quot;01  模型不直连生产系统\n\n02  工具调用先过授权\n\n03  代码与文件在沙箱\n\n04  产物先校验再交付&quot;, &quot;style&quot;: &quot;body_small&quot;, &quot;geometry&quot;: {&quot;x&quot;: 0.71, &quot;y&quot;: 0.3, &quot;w&quot;: 0.2, &quot;h&quot;: 0.36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8656319" y="2091690"/>
            <a:ext cx="2438400" cy="23317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01  模型不直连生产系统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02  工具调用先过授权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03  代码与文件在沙箱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04  产物先校验再交付</a:t>
            </a:r>
          </a:p>
        </p:txBody>
      </p:sp>
      <p:sp>
        <p:nvSpPr>
          <p:cNvPr id="35" name="da:p4-side-note" descr="{&quot;id&quot;: &quot;p4-side-note&quot;, &quot;text&quot;: &quot;边界不是限制，\n而是可交付的前提。&quot;, &quot;style&quot;: &quot;caption&quot;, &quot;geometry&quot;: {&quot;x&quot;: 0.71, &quot;y&quot;: 0.7, &quot;w&quot;: 0.2, &quot;h&quot;: 0.06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8656319" y="4834890"/>
            <a:ext cx="2438400" cy="4800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边界不是限制，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而是可交付的前提。</a:t>
            </a:r>
          </a:p>
        </p:txBody>
      </p:sp>
      <p:sp>
        <p:nvSpPr>
          <p:cNvPr id="36" name="da:p4-note" descr="{&quot;id&quot;: &quot;p4-note&quot;, &quot;text&quot;: &quot;请求沿 01 → 05 下行；产物经审查后回到 01 预览，并写入 05 的版本记录。&quot;, &quot;style&quot;: &quot;body_small&quot;, &quot;geometry&quot;: {&quot;x&quot;: 0.07, &quot;y&quot;: 0.79, &quot;w&quot;: 0.86, &quot;h&quot;: 0.04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853440" y="5522974"/>
            <a:ext cx="10485119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请求沿 01 → 05 下行；产物经审查后回到 01 预览，并写入 05 的版本记录。</a:t>
            </a:r>
          </a:p>
        </p:txBody>
      </p:sp>
      <p:sp>
        <p:nvSpPr>
          <p:cNvPr id="37" name="da:p4-foot" descr="{&quot;id&quot;: &quot;p4-foot&quot;, &quot;text&quot;: &quot;内部方案演示 ｜ 04 / 12&quot;, &quot;style&quot;: &quot;caption&quot;, &quot;anchor&quot;: &quot;footer&quot;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731520" y="6309360"/>
            <a:ext cx="10728959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内部方案演示 ｜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slide-005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:p5-title" descr="{&quot;id&quot;: &quot;p5-title&quot;, &quot;text&quot;: &quot;一次请求，六步完成从意图到交付&quot;, &quot;style&quot;: &quot;slide_title&quot;, &quot;anchor&quot;: &quot;title&quot;, &quot;kind&quot;: &quot;text&quot;, &quot;resolved_style&quot;: {&quot;style_token&quot;: &quot;slide_title&quot;, &quot;font_family&quot;: &quot;Noto Sans CJK SC&quot;, &quot;font_size&quot;: 32.0, &quot;bold&quot;: true, &quot;color&quot;: &quot;F2FBF6&quot;, &quot;line_height&quot;: 1.2, &quot;letter_spacing&quot;: null}}"/>
          <p:cNvSpPr txBox="1"/>
          <p:nvPr/>
        </p:nvSpPr>
        <p:spPr>
          <a:xfrm>
            <a:off x="853440" y="480060"/>
            <a:ext cx="10485119" cy="93829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2FBF6"/>
                </a:solidFill>
                <a:latin typeface="Noto Sans CJK SC"/>
                <a:ea typeface="Noto Sans CJK SC"/>
              </a:rPr>
              <a:t>一次请求，六步完成从意图到交付</a:t>
            </a:r>
          </a:p>
        </p:txBody>
      </p:sp>
      <p:sp>
        <p:nvSpPr>
          <p:cNvPr id="3" name="da:p5-card1" descr="{&quot;id&quot;: &quot;p5-card1&quot;, &quot;shape&quot;: &quot;rounded_rectangle&quot;, &quot;fill_token&quot;: &quot;card&quot;, &quot;layer&quot;: &quot;background&quot;, &quot;geometry&quot;: {&quot;x&quot;: 0.07, &quot;y&quot;: 0.31333333333333335, &quot;w&quot;: 0.129, &quot;h&quot;: 0.4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853440" y="2148840"/>
            <a:ext cx="1572768" cy="2743200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a:p5-num1" descr="{&quot;id&quot;: &quot;p5-num1&quot;, &quot;text&quot;: &quot;01&quot;, &quot;style&quot;: &quot;caption&quot;, &quot;geometry&quot;: {&quot;x&quot;: 0.082, &quot;y&quot;: 0.332, &quot;w&quot;: 0.04, &quot;h&quot;: 0.0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999744" y="2276856"/>
            <a:ext cx="487680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01</a:t>
            </a:r>
          </a:p>
        </p:txBody>
      </p:sp>
      <p:pic>
        <p:nvPicPr>
          <p:cNvPr id="5" name="da:p5-icon1" descr="{&quot;kind&quot;: &quot;component&quot;, &quot;layer&quot;: &quot;content&quot;, &quot;anchor&quot;: null, &quot;overlap_group&quot;: &quot;component:p5-icon1&quot;, &quot;vector&quot;: true, &quot;component&quot;: {&quot;component_id&quot;: &quot;icons.users&quot;, &quot;version&quot;: &quot;1.0.0&quot;, &quot;variant&quot;: &quot;default&quot;, &quot;params&quot;: {&quot;color&quot;: &quot;accent&quot;}, &quot;texts&quot;: {}, &quot;svg_sha256&quot;: &quot;a6a640f40c257608d00a3182eb559c745b4dbfeec933b288843dcb0b9adba2bf&quot;, &quot;svg_template_sha256&quot;: &quot;985f8cb9d7e5d626552d2ed18055afed8cedbe978611cac51e6926936d449653&quot;, &quot;profile_id&quot;: &quot;tech_dark&quot;, &quot;vector&quot;: true}, &quot;texts&quot;: {}}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3016" y="2258566"/>
            <a:ext cx="347472" cy="347474"/>
          </a:xfrm>
          <a:prstGeom prst="rect">
            <a:avLst/>
          </a:prstGeom>
        </p:spPr>
      </p:pic>
      <p:sp>
        <p:nvSpPr>
          <p:cNvPr id="6" name="da:p5-label1" descr="{&quot;id&quot;: &quot;p5-label1&quot;, &quot;text&quot;: &quot;用户提出\n任务&quot;, &quot;style&quot;: &quot;body&quot;, &quot;geometry&quot;: {&quot;x&quot;: 0.082, &quot;y&quot;: 0.413333, &quot;w&quot;: 0.10500000000000001, &quot;h&quot;: 0.12}, &quot;kind&quot;: &quot;tex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SpPr txBox="1"/>
          <p:nvPr/>
        </p:nvSpPr>
        <p:spPr>
          <a:xfrm>
            <a:off x="999744" y="2834638"/>
            <a:ext cx="1280160" cy="8229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用户提出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任务</a:t>
            </a:r>
          </a:p>
        </p:txBody>
      </p:sp>
      <p:sp>
        <p:nvSpPr>
          <p:cNvPr id="7" name="da:p5-desc1" descr="{&quot;id&quot;: &quot;p5-desc1&quot;, &quot;text&quot;: &quot;描述目标与约束&quot;, &quot;style&quot;: &quot;body_small&quot;, &quot;geometry&quot;: {&quot;x&quot;: 0.082, &quot;y&quot;: 0.535, &quot;w&quot;: 0.10500000000000001, &quot;h&quot;: 0.13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999744" y="3669030"/>
            <a:ext cx="1280160" cy="8915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描述目标与约束</a:t>
            </a:r>
          </a:p>
        </p:txBody>
      </p:sp>
      <p:sp>
        <p:nvSpPr>
          <p:cNvPr id="8" name="da:p5-arrow1" descr="{&quot;id&quot;: &quot;p5-arrow1&quot;, &quot;shape&quot;: &quot;arrow&quot;, &quot;fill_token&quot;: &quot;accent&quot;, &quot;layer&quot;: &quot;decoration&quot;, &quot;geometry&quot;: {&quot;x&quot;: 0.201, &quot;y&quot;: 0.493333, &quot;w&quot;: 0.012, &quot;h&quot;: 0.03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2450592" y="3383278"/>
            <a:ext cx="146304" cy="205740"/>
          </a:xfrm>
          <a:prstGeom prst="rightArrow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a:p5-arrow2" descr="{&quot;id&quot;: &quot;p5-arrow2&quot;, &quot;shape&quot;: &quot;arrow&quot;, &quot;fill_token&quot;: &quot;accent&quot;, &quot;layer&quot;: &quot;decoration&quot;, &quot;geometry&quot;: {&quot;x&quot;: 0.34600000000000003, &quot;y&quot;: 0.493333, &quot;w&quot;: 0.012, &quot;h&quot;: 0.03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4218432" y="3383278"/>
            <a:ext cx="146304" cy="205740"/>
          </a:xfrm>
          <a:prstGeom prst="rightArrow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:p5-arrow3" descr="{&quot;id&quot;: &quot;p5-arrow3&quot;, &quot;shape&quot;: &quot;arrow&quot;, &quot;fill_token&quot;: &quot;accent&quot;, &quot;layer&quot;: &quot;decoration&quot;, &quot;geometry&quot;: {&quot;x&quot;: 0.49100000000000005, &quot;y&quot;: 0.493333, &quot;w&quot;: 0.012, &quot;h&quot;: 0.03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5986272" y="3383278"/>
            <a:ext cx="146304" cy="205740"/>
          </a:xfrm>
          <a:prstGeom prst="rightArrow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a:p5-arrow4" descr="{&quot;id&quot;: &quot;p5-arrow4&quot;, &quot;shape&quot;: &quot;arrow&quot;, &quot;fill_token&quot;: &quot;accent&quot;, &quot;layer&quot;: &quot;decoration&quot;, &quot;geometry&quot;: {&quot;x&quot;: 0.6360000000000001, &quot;y&quot;: 0.493333, &quot;w&quot;: 0.012, &quot;h&quot;: 0.03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7754111" y="3383278"/>
            <a:ext cx="146304" cy="205740"/>
          </a:xfrm>
          <a:prstGeom prst="rightArrow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:p5-arrow5" descr="{&quot;id&quot;: &quot;p5-arrow5&quot;, &quot;shape&quot;: &quot;arrow&quot;, &quot;fill_token&quot;: &quot;accent&quot;, &quot;layer&quot;: &quot;decoration&quot;, &quot;geometry&quot;: {&quot;x&quot;: 0.7810000000000001, &quot;y&quot;: 0.493333, &quot;w&quot;: 0.012, &quot;h&quot;: 0.03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9521951" y="3383278"/>
            <a:ext cx="146304" cy="205740"/>
          </a:xfrm>
          <a:prstGeom prst="rightArrow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a:p5-note" descr="{&quot;id&quot;: &quot;p5-note&quot;, &quot;text&quot;: &quot;每一步都写入执行记录：任务、调用、产物、检查与交付。&quot;, &quot;style&quot;: &quot;body_small&quot;, &quot;geometry&quot;: {&quot;x&quot;: 0.07, &quot;y&quot;: 0.765, &quot;w&quot;: 0.86, &quot;h&quot;: 0.06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853440" y="5246370"/>
            <a:ext cx="10485119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每一步都写入执行记录：任务、调用、产物、检查与交付。</a:t>
            </a:r>
          </a:p>
        </p:txBody>
      </p:sp>
      <p:sp>
        <p:nvSpPr>
          <p:cNvPr id="29" name="da:p5-foot" descr="{&quot;id&quot;: &quot;p5-foot&quot;, &quot;text&quot;: &quot;内部方案演示 ｜ 05 / 12&quot;, &quot;style&quot;: &quot;caption&quot;, &quot;anchor&quot;: &quot;footer&quot;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731520" y="6309360"/>
            <a:ext cx="10728959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内部方案演示 ｜ 05 / 12</a:t>
            </a:r>
          </a:p>
        </p:txBody>
      </p:sp>
      <p:sp>
        <p:nvSpPr>
          <p:cNvPr id="40" name="da:p5-card2" descr="{&quot;id&quot;: &quot;p5-card2&quot;, &quot;shape&quot;: &quot;rounded_rectangle&quot;, &quot;fill_token&quot;: &quot;card&quot;, &quot;layer&quot;: &quot;background&quot;, &quot;geometry&quot;: {&quot;x&quot;: 0.21500000000000002, &quot;y&quot;: 0.313333, &quot;w&quot;: 0.129, &quot;h&quot;: 0.4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2621280" y="2148838"/>
            <a:ext cx="1572768" cy="2743200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a:p5-num2" descr="{&quot;id&quot;: &quot;p5-num2&quot;, &quot;text&quot;: &quot;02&quot;, &quot;style&quot;: &quot;caption&quot;, &quot;geometry&quot;: {&quot;x&quot;: 0.22700000000000004, &quot;y&quot;: 0.332, &quot;w&quot;: 0.04, &quot;h&quot;: 0.0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2767584" y="2276856"/>
            <a:ext cx="487680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02</a:t>
            </a:r>
          </a:p>
        </p:txBody>
      </p:sp>
      <p:pic>
        <p:nvPicPr>
          <p:cNvPr id="42" name="da:p5-icon2" descr="{&quot;kind&quot;: &quot;component&quot;, &quot;layer&quot;: &quot;content&quot;, &quot;anchor&quot;: null, &quot;overlap_group&quot;: &quot;component:p5-icon2&quot;, &quot;vector&quot;: true, &quot;component&quot;: {&quot;component_id&quot;: &quot;icons.spark&quot;, &quot;version&quot;: &quot;1.0.0&quot;, &quot;variant&quot;: &quot;default&quot;, &quot;params&quot;: {&quot;color&quot;: &quot;accent&quot;}, &quot;texts&quot;: {}, &quot;svg_sha256&quot;: &quot;0414a23fec7f962ec1eea441d128620b113d9322d8165e162412870e781e83fa&quot;, &quot;svg_template_sha256&quot;: &quot;803025b5a06f932344b64d230e8be66d1f1f43bb6e6b9fd388f5315511723e5b&quot;, &quot;profile_id&quot;: &quot;tech_dark&quot;, &quot;vector&quot;: true}, &quot;texts&quot;: {}}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00856" y="2258566"/>
            <a:ext cx="347472" cy="347474"/>
          </a:xfrm>
          <a:prstGeom prst="rect">
            <a:avLst/>
          </a:prstGeom>
        </p:spPr>
      </p:pic>
      <p:sp>
        <p:nvSpPr>
          <p:cNvPr id="43" name="da:p5-label2" descr="{&quot;id&quot;: &quot;p5-label2&quot;, &quot;text&quot;: &quot;Agent\n理解执行&quot;, &quot;style&quot;: &quot;body&quot;, &quot;geometry&quot;: {&quot;x&quot;: 0.22700000000000004, &quot;y&quot;: 0.413333, &quot;w&quot;: 0.10500000000000001, &quot;h&quot;: 0.12}, &quot;kind&quot;: &quot;tex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SpPr txBox="1"/>
          <p:nvPr/>
        </p:nvSpPr>
        <p:spPr>
          <a:xfrm>
            <a:off x="2767584" y="2834638"/>
            <a:ext cx="1280160" cy="8229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Agent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理解执行</a:t>
            </a:r>
          </a:p>
        </p:txBody>
      </p:sp>
      <p:sp>
        <p:nvSpPr>
          <p:cNvPr id="44" name="da:p5-desc2" descr="{&quot;id&quot;: &quot;p5-desc2&quot;, &quot;text&quot;: &quot;拆解任务并规划&quot;, &quot;style&quot;: &quot;body_small&quot;, &quot;geometry&quot;: {&quot;x&quot;: 0.22700000000000004, &quot;y&quot;: 0.535, &quot;w&quot;: 0.10500000000000001, &quot;h&quot;: 0.13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2767584" y="3669030"/>
            <a:ext cx="1280160" cy="8915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拆解任务并规划</a:t>
            </a:r>
          </a:p>
        </p:txBody>
      </p:sp>
      <p:sp>
        <p:nvSpPr>
          <p:cNvPr id="45" name="da:p5-card3" descr="{&quot;id&quot;: &quot;p5-card3&quot;, &quot;shape&quot;: &quot;rounded_rectangle&quot;, &quot;fill_token&quot;: &quot;card&quot;, &quot;layer&quot;: &quot;background&quot;, &quot;geometry&quot;: {&quot;x&quot;: 0.36000000000000004, &quot;y&quot;: 0.313333, &quot;w&quot;: 0.129, &quot;h&quot;: 0.4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4389120" y="2148838"/>
            <a:ext cx="1572768" cy="2743200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a:p5-num3" descr="{&quot;id&quot;: &quot;p5-num3&quot;, &quot;text&quot;: &quot;03&quot;, &quot;style&quot;: &quot;caption&quot;, &quot;geometry&quot;: {&quot;x&quot;: 0.37200000000000005, &quot;y&quot;: 0.332, &quot;w&quot;: 0.04, &quot;h&quot;: 0.0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4535424" y="2276856"/>
            <a:ext cx="487680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48" name="da:p5-label3" descr="{&quot;id&quot;: &quot;p5-label3&quot;, &quot;text&quot;: &quot;工具调用\n权限检查&quot;, &quot;style&quot;: &quot;body&quot;, &quot;geometry&quot;: {&quot;x&quot;: 0.37200000000000005, &quot;y&quot;: 0.413333, &quot;w&quot;: 0.10500000000000001, &quot;h&quot;: 0.12}, &quot;kind&quot;: &quot;tex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SpPr txBox="1"/>
          <p:nvPr/>
        </p:nvSpPr>
        <p:spPr>
          <a:xfrm>
            <a:off x="4535424" y="2834638"/>
            <a:ext cx="1280160" cy="8229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工具调用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权限检查</a:t>
            </a:r>
          </a:p>
        </p:txBody>
      </p:sp>
      <p:sp>
        <p:nvSpPr>
          <p:cNvPr id="49" name="da:p5-desc3" descr="{&quot;id&quot;: &quot;p5-desc3&quot;, &quot;text&quot;: &quot;先鉴权，再调用&quot;, &quot;style&quot;: &quot;body_small&quot;, &quot;geometry&quot;: {&quot;x&quot;: 0.37200000000000005, &quot;y&quot;: 0.535, &quot;w&quot;: 0.10500000000000001, &quot;h&quot;: 0.13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4535424" y="3669030"/>
            <a:ext cx="1280160" cy="8915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先鉴权，再调用</a:t>
            </a:r>
          </a:p>
        </p:txBody>
      </p:sp>
      <p:sp>
        <p:nvSpPr>
          <p:cNvPr id="50" name="da:p5-card4" descr="{&quot;id&quot;: &quot;p5-card4&quot;, &quot;shape&quot;: &quot;rounded_rectangle&quot;, &quot;fill_token&quot;: &quot;card&quot;, &quot;layer&quot;: &quot;background&quot;, &quot;geometry&quot;: {&quot;x&quot;: 0.5050000000000001, &quot;y&quot;: 0.313333, &quot;w&quot;: 0.129, &quot;h&quot;: 0.4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6156959" y="2148838"/>
            <a:ext cx="1572768" cy="2743200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a:p5-num4" descr="{&quot;id&quot;: &quot;p5-num4&quot;, &quot;text&quot;: &quot;04&quot;, &quot;style&quot;: &quot;caption&quot;, &quot;geometry&quot;: {&quot;x&quot;: 0.5170000000000001, &quot;y&quot;: 0.332, &quot;w&quot;: 0.04, &quot;h&quot;: 0.0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6303263" y="2276856"/>
            <a:ext cx="487680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04</a:t>
            </a:r>
          </a:p>
        </p:txBody>
      </p:sp>
      <p:pic>
        <p:nvPicPr>
          <p:cNvPr id="52" name="da:p5-icon4" descr="{&quot;kind&quot;: &quot;component&quot;, &quot;layer&quot;: &quot;content&quot;, &quot;anchor&quot;: null, &quot;overlap_group&quot;: &quot;component:p5-icon4&quot;, &quot;vector&quot;: true, &quot;component&quot;: {&quot;component_id&quot;: &quot;icons.layers&quot;, &quot;version&quot;: &quot;1.0.0&quot;, &quot;variant&quot;: &quot;default&quot;, &quot;params&quot;: {&quot;color&quot;: &quot;accent&quot;}, &quot;texts&quot;: {}, &quot;svg_sha256&quot;: &quot;226813e229c6da41c121df9e2c6b1cd4248450606c786cd8a47e81d1d15288ff&quot;, &quot;svg_template_sha256&quot;: &quot;10eaa80a0a94466cb2722d442b843faf8ef5672322c316fb782ee82b094d9651&quot;, &quot;profile_id&quot;: &quot;tech_dark&quot;, &quot;vector&quot;: true}, &quot;texts&quot;: {}}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36535" y="2258566"/>
            <a:ext cx="347472" cy="347474"/>
          </a:xfrm>
          <a:prstGeom prst="rect">
            <a:avLst/>
          </a:prstGeom>
        </p:spPr>
      </p:pic>
      <p:sp>
        <p:nvSpPr>
          <p:cNvPr id="53" name="da:p5-label4" descr="{&quot;id&quot;: &quot;p5-label4&quot;, &quot;text&quot;: &quot;产物生成&quot;, &quot;style&quot;: &quot;body&quot;, &quot;geometry&quot;: {&quot;x&quot;: 0.5170000000000001, &quot;y&quot;: 0.413333, &quot;w&quot;: 0.10500000000000001, &quot;h&quot;: 0.12}, &quot;kind&quot;: &quot;tex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SpPr txBox="1"/>
          <p:nvPr/>
        </p:nvSpPr>
        <p:spPr>
          <a:xfrm>
            <a:off x="6303263" y="2834638"/>
            <a:ext cx="1280160" cy="8229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产物生成</a:t>
            </a:r>
          </a:p>
        </p:txBody>
      </p:sp>
      <p:sp>
        <p:nvSpPr>
          <p:cNvPr id="54" name="da:p5-desc4" descr="{&quot;id&quot;: &quot;p5-desc4&quot;, &quot;text&quot;: &quot;生成可编辑产物&quot;, &quot;style&quot;: &quot;body_small&quot;, &quot;geometry&quot;: {&quot;x&quot;: 0.5170000000000001, &quot;y&quot;: 0.535, &quot;w&quot;: 0.10500000000000001, &quot;h&quot;: 0.13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6303263" y="3669030"/>
            <a:ext cx="1280160" cy="8915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生成可编辑产物</a:t>
            </a:r>
          </a:p>
        </p:txBody>
      </p:sp>
      <p:sp>
        <p:nvSpPr>
          <p:cNvPr id="55" name="da:p5-card5" descr="{&quot;id&quot;: &quot;p5-card5&quot;, &quot;shape&quot;: &quot;rounded_rectangle&quot;, &quot;fill_token&quot;: &quot;card&quot;, &quot;layer&quot;: &quot;background&quot;, &quot;geometry&quot;: {&quot;x&quot;: 0.6500000000000001, &quot;y&quot;: 0.313333, &quot;w&quot;: 0.129, &quot;h&quot;: 0.4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7924799" y="2148838"/>
            <a:ext cx="1572768" cy="2743200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a:p5-num5" descr="{&quot;id&quot;: &quot;p5-num5&quot;, &quot;text&quot;: &quot;05&quot;, &quot;style&quot;: &quot;caption&quot;, &quot;geometry&quot;: {&quot;x&quot;: 0.6620000000000001, &quot;y&quot;: 0.332, &quot;w&quot;: 0.04, &quot;h&quot;: 0.0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8071103" y="2276856"/>
            <a:ext cx="487680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05</a:t>
            </a:r>
          </a:p>
        </p:txBody>
      </p:sp>
      <p:pic>
        <p:nvPicPr>
          <p:cNvPr id="57" name="da:p5-icon5" descr="{&quot;kind&quot;: &quot;component&quot;, &quot;layer&quot;: &quot;content&quot;, &quot;anchor&quot;: null, &quot;overlap_group&quot;: &quot;component:p5-icon5&quot;, &quot;vector&quot;: true, &quot;component&quot;: {&quot;component_id&quot;: &quot;icons.check&quot;, &quot;version&quot;: &quot;1.0.0&quot;, &quot;variant&quot;: &quot;default&quot;, &quot;params&quot;: {&quot;color&quot;: &quot;accent&quot;}, &quot;texts&quot;: {}, &quot;svg_sha256&quot;: &quot;d0a415a48a499e368455c4f1ffcc0f0e9eb55ab480862985e7d31c629d4d4c6e&quot;, &quot;svg_template_sha256&quot;: &quot;af7355a710ea1acc3b3751b4ced40761b319efe0ff07e7369fb6963aab2db5e9&quot;, &quot;profile_id&quot;: &quot;tech_dark&quot;, &quot;vector&quot;: true}, &quot;texts&quot;: {}}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04375" y="2258566"/>
            <a:ext cx="347472" cy="347474"/>
          </a:xfrm>
          <a:prstGeom prst="rect">
            <a:avLst/>
          </a:prstGeom>
        </p:spPr>
      </p:pic>
      <p:sp>
        <p:nvSpPr>
          <p:cNvPr id="58" name="da:p5-label5" descr="{&quot;id&quot;: &quot;p5-label5&quot;, &quot;text&quot;: &quot;质量验证&quot;, &quot;style&quot;: &quot;body&quot;, &quot;geometry&quot;: {&quot;x&quot;: 0.6620000000000001, &quot;y&quot;: 0.413333, &quot;w&quot;: 0.10500000000000001, &quot;h&quot;: 0.12}, &quot;kind&quot;: &quot;tex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SpPr txBox="1"/>
          <p:nvPr/>
        </p:nvSpPr>
        <p:spPr>
          <a:xfrm>
            <a:off x="8071103" y="2834638"/>
            <a:ext cx="1280160" cy="8229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质量验证</a:t>
            </a:r>
          </a:p>
        </p:txBody>
      </p:sp>
      <p:sp>
        <p:nvSpPr>
          <p:cNvPr id="59" name="da:p5-desc5" descr="{&quot;id&quot;: &quot;p5-desc5&quot;, &quot;text&quot;: &quot;自动校验与审查&quot;, &quot;style&quot;: &quot;body_small&quot;, &quot;geometry&quot;: {&quot;x&quot;: 0.6620000000000001, &quot;y&quot;: 0.535, &quot;w&quot;: 0.10500000000000001, &quot;h&quot;: 0.13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8071103" y="3669030"/>
            <a:ext cx="1280160" cy="8915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自动校验与审查</a:t>
            </a:r>
          </a:p>
        </p:txBody>
      </p:sp>
      <p:sp>
        <p:nvSpPr>
          <p:cNvPr id="60" name="da:p5-card6" descr="{&quot;id&quot;: &quot;p5-card6&quot;, &quot;shape&quot;: &quot;rounded_rectangle&quot;, &quot;fill_token&quot;: &quot;card&quot;, &quot;layer&quot;: &quot;background&quot;, &quot;geometry&quot;: {&quot;x&quot;: 0.7950000000000002, &quot;y&quot;: 0.313333, &quot;w&quot;: 0.129, &quot;h&quot;: 0.4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9692639" y="2148838"/>
            <a:ext cx="1572768" cy="2743200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a:p5-num6" descr="{&quot;id&quot;: &quot;p5-num6&quot;, &quot;text&quot;: &quot;06&quot;, &quot;style&quot;: &quot;caption&quot;, &quot;geometry&quot;: {&quot;x&quot;: 0.8070000000000002, &quot;y&quot;: 0.332, &quot;w&quot;: 0.04, &quot;h&quot;: 0.0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9838943" y="2276856"/>
            <a:ext cx="487680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06</a:t>
            </a:r>
          </a:p>
        </p:txBody>
      </p:sp>
      <p:pic>
        <p:nvPicPr>
          <p:cNvPr id="62" name="da:p5-icon6" descr="{&quot;kind&quot;: &quot;component&quot;, &quot;layer&quot;: &quot;content&quot;, &quot;anchor&quot;: null, &quot;overlap_group&quot;: &quot;component:p5-icon6&quot;, &quot;vector&quot;: true, &quot;component&quot;: {&quot;component_id&quot;: &quot;icons.arrow_right&quot;, &quot;version&quot;: &quot;1.0.0&quot;, &quot;variant&quot;: &quot;default&quot;, &quot;params&quot;: {&quot;color&quot;: &quot;accent&quot;}, &quot;texts&quot;: {}, &quot;svg_sha256&quot;: &quot;9d739e25dbe129ca337e176d4a159a9656b88f8d38ad8694fa95d756e17b5e0f&quot;, &quot;svg_template_sha256&quot;: &quot;f792fe300e223d2b7608d4541dbc3faa897c9fb3a35a2fb48da4b7671f788dbd&quot;, &quot;profile_id&quot;: &quot;tech_dark&quot;, &quot;vector&quot;: true}, &quot;texts&quot;: {}}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72215" y="2258566"/>
            <a:ext cx="347472" cy="347474"/>
          </a:xfrm>
          <a:prstGeom prst="rect">
            <a:avLst/>
          </a:prstGeom>
        </p:spPr>
      </p:pic>
      <p:sp>
        <p:nvSpPr>
          <p:cNvPr id="63" name="da:p5-label6" descr="{&quot;id&quot;: &quot;p5-label6&quot;, &quot;text&quot;: &quot;用户交付&quot;, &quot;style&quot;: &quot;body&quot;, &quot;geometry&quot;: {&quot;x&quot;: 0.8070000000000002, &quot;y&quot;: 0.413333, &quot;w&quot;: 0.10500000000000001, &quot;h&quot;: 0.12}, &quot;kind&quot;: &quot;tex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SpPr txBox="1"/>
          <p:nvPr/>
        </p:nvSpPr>
        <p:spPr>
          <a:xfrm>
            <a:off x="9838943" y="2834638"/>
            <a:ext cx="1280160" cy="8229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用户交付</a:t>
            </a:r>
          </a:p>
        </p:txBody>
      </p:sp>
      <p:sp>
        <p:nvSpPr>
          <p:cNvPr id="64" name="da:p5-desc6" descr="{&quot;id&quot;: &quot;p5-desc6&quot;, &quot;text&quot;: &quot;确认后交付留痕&quot;, &quot;style&quot;: &quot;body_small&quot;, &quot;geometry&quot;: {&quot;x&quot;: 0.8070000000000002, &quot;y&quot;: 0.535, &quot;w&quot;: 0.10500000000000001, &quot;h&quot;: 0.13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9838943" y="3669030"/>
            <a:ext cx="1280160" cy="8915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确认后交付留痕</a:t>
            </a:r>
          </a:p>
        </p:txBody>
      </p:sp>
      <p:pic>
        <p:nvPicPr>
          <p:cNvPr id="65" name="da:p5-icon3" descr="{&quot;kind&quot;: &quot;component&quot;, &quot;layer&quot;: &quot;content&quot;, &quot;anchor&quot;: null, &quot;overlap_group&quot;: &quot;component:p5-icon3&quot;, &quot;vector&quot;: true, &quot;component&quot;: {&quot;component_id&quot;: &quot;icons.lock&quot;, &quot;version&quot;: &quot;1.0.0&quot;, &quot;variant&quot;: &quot;default&quot;, &quot;params&quot;: {&quot;color&quot;: &quot;accent&quot;}, &quot;texts&quot;: {}, &quot;svg_sha256&quot;: &quot;d20669df1e521688f56f5e77a03069af56a63ee902b8280c3d9c0a9cd77bf35e&quot;, &quot;svg_template_sha256&quot;: &quot;6dd8e143b0e35f5bbce78c729db75ff61a9d4068b580772baa72dc7a4c88f2aa&quot;, &quot;profile_id&quot;: &quot;tech_dark&quot;, &quot;vector&quot;: true}, &quot;texts&quot;: {}}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68696" y="2258566"/>
            <a:ext cx="347472" cy="347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slide-006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:p6-title" descr="{&quot;id&quot;: &quot;p6-title&quot;, &quot;text&quot;: &quot;四项核心能力，构成可托付的执行底座&quot;, &quot;style&quot;: &quot;slide_title&quot;, &quot;anchor&quot;: &quot;title&quot;, &quot;kind&quot;: &quot;text&quot;, &quot;resolved_style&quot;: {&quot;style_token&quot;: &quot;slide_title&quot;, &quot;font_family&quot;: &quot;Noto Sans CJK SC&quot;, &quot;font_size&quot;: 32.0, &quot;bold&quot;: true, &quot;color&quot;: &quot;F2FBF6&quot;, &quot;line_height&quot;: 1.2, &quot;letter_spacing&quot;: null}}"/>
          <p:cNvSpPr txBox="1"/>
          <p:nvPr/>
        </p:nvSpPr>
        <p:spPr>
          <a:xfrm>
            <a:off x="853440" y="480060"/>
            <a:ext cx="10485119" cy="80425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2FBF6"/>
                </a:solidFill>
                <a:latin typeface="Noto Sans CJK SC"/>
                <a:ea typeface="Noto Sans CJK SC"/>
              </a:rPr>
              <a:t>四项核心能力，构成可托付的执行底座</a:t>
            </a:r>
          </a:p>
        </p:txBody>
      </p:sp>
      <p:sp>
        <p:nvSpPr>
          <p:cNvPr id="3" name="da:p6-card1" descr="{&quot;id&quot;: &quot;p6-card1&quot;, &quot;shape&quot;: &quot;rounded_rectangle&quot;, &quot;fill_token&quot;: &quot;card&quot;, &quot;layer&quot;: &quot;background&quot;, &quot;geometry&quot;: {&quot;x&quot;: 0.07, &quot;y&quot;: 0.226364, &quot;w&quot;: 0.410455, &quot;h&quot;: 0.30295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853440" y="1552404"/>
            <a:ext cx="5004267" cy="2077665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da:p6-icon1" descr="{&quot;kind&quot;: &quot;component&quot;, &quot;layer&quot;: &quot;content&quot;, &quot;anchor&quot;: null, &quot;overlap_group&quot;: &quot;component:p6-icon1&quot;, &quot;vector&quot;: true, &quot;component&quot;: {&quot;component_id&quot;: &quot;icons.spark&quot;, &quot;version&quot;: &quot;1.0.0&quot;, &quot;variant&quot;: &quot;default&quot;, &quot;params&quot;: {&quot;color&quot;: &quot;accent&quot;}, &quot;texts&quot;: {}, &quot;svg_sha256&quot;: &quot;0414a23fec7f962ec1eea441d128620b113d9322d8165e162412870e781e83fa&quot;, &quot;svg_template_sha256&quot;: &quot;803025b5a06f932344b64d230e8be66d1f1f43bb6e6b9fd388f5315511723e5b&quot;, &quot;profile_id&quot;: &quot;tech_dark&quot;, &quot;vector&quot;: true}, &quot;texts&quot;: {}}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896" y="1703280"/>
            <a:ext cx="384048" cy="384048"/>
          </a:xfrm>
          <a:prstGeom prst="rect">
            <a:avLst/>
          </a:prstGeom>
        </p:spPr>
      </p:pic>
      <p:sp>
        <p:nvSpPr>
          <p:cNvPr id="5" name="da:p6-num1" descr="{&quot;id&quot;: &quot;p6-num1&quot;, &quot;text&quot;: &quot;01&quot;, &quot;style&quot;: &quot;caption&quot;, &quot;align&quot;: &quot;right&quot;, &quot;geometry&quot;: {&quot;x&quot;: 0.425455, &quot;y&quot;: 0.248364, &quot;w&quot;: 0.04, &quot;h&quot;: 0.0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5187147" y="1703280"/>
            <a:ext cx="487680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6" name="da:p6-title1" descr="{&quot;id&quot;: &quot;p6-title1&quot;, &quot;text&quot;: &quot;任务执行&quot;, &quot;style&quot;: &quot;card_title&quot;, &quot;geometry&quot;: {&quot;x&quot;: 0.085, &quot;y&quot;: 0.31136400000000003, &quot;w&quot;: 0.380455, &quot;h&quot;: 0.06}, &quot;kind&quot;: &quot;text&quot;, &quot;resolved_style&quot;: {&quot;style_token&quot;: &quot;card_title&quot;, &quot;font_family&quot;: &quot;Noto Sans CJK SC&quot;, &quot;font_size&quot;: 22.0, &quot;bold&quot;: true, &quot;color&quot;: &quot;A8F0A2&quot;, &quot;line_height&quot;: 1.2, &quot;letter_spacing&quot;: null}}"/>
          <p:cNvSpPr txBox="1"/>
          <p:nvPr/>
        </p:nvSpPr>
        <p:spPr>
          <a:xfrm>
            <a:off x="1036320" y="2135334"/>
            <a:ext cx="4638507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A8F0A2"/>
                </a:solidFill>
                <a:latin typeface="Noto Sans CJK SC"/>
                <a:ea typeface="Noto Sans CJK SC"/>
              </a:rPr>
              <a:t>任务执行</a:t>
            </a:r>
          </a:p>
        </p:txBody>
      </p:sp>
      <p:sp>
        <p:nvSpPr>
          <p:cNvPr id="7" name="da:p6-desc1" descr="{&quot;id&quot;: &quot;p6-desc1&quot;, &quot;text&quot;: &quot;把自然语言拆成步骤，规划、调度与失败重试。&quot;, &quot;style&quot;: &quot;body_small&quot;, &quot;geometry&quot;: {&quot;x&quot;: 0.085, &quot;y&quot;: 0.38636400000000004, &quot;w&quot;: 0.380455, &quot;h&quot;: 0.12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1036320" y="2649684"/>
            <a:ext cx="4638507" cy="6172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把自然语言拆成步骤，规划、调度与失败重试。</a:t>
            </a:r>
          </a:p>
        </p:txBody>
      </p:sp>
      <p:sp>
        <p:nvSpPr>
          <p:cNvPr id="8" name="da:p6-card2" descr="{&quot;id&quot;: &quot;p6-card2&quot;, &quot;shape&quot;: &quot;rounded_rectangle&quot;, &quot;fill_token&quot;: &quot;card&quot;, &quot;layer&quot;: &quot;background&quot;, &quot;geometry&quot;: {&quot;x&quot;: 0.519545, &quot;y&quot;: 0.226364, &quot;w&quot;: 0.410455, &quot;h&quot;: 0.30295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6334292" y="1552404"/>
            <a:ext cx="5004267" cy="2077665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da:p6-icon2" descr="{&quot;kind&quot;: &quot;component&quot;, &quot;layer&quot;: &quot;content&quot;, &quot;anchor&quot;: null, &quot;overlap_group&quot;: &quot;component:p6-icon2&quot;, &quot;vector&quot;: true, &quot;component&quot;: {&quot;component_id&quot;: &quot;icons.shield&quot;, &quot;version&quot;: &quot;1.0.0&quot;, &quot;variant&quot;: &quot;default&quot;, &quot;params&quot;: {&quot;color&quot;: &quot;accent&quot;}, &quot;texts&quot;: {}, &quot;svg_sha256&quot;: &quot;16cfcba39e9d112a8f013a538eaf2476611e0d162ef9c14f614ebbf6e0d00f12&quot;, &quot;svg_template_sha256&quot;: &quot;fb85b9cb2c5ea26cb5dd095d17c0139fd7b1ccb3a63f94afac6fda908a692400&quot;, &quot;profile_id&quot;: &quot;tech_dark&quot;, &quot;vector&quot;: true}, &quot;texts&quot;: {}}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3748" y="1703280"/>
            <a:ext cx="384048" cy="384048"/>
          </a:xfrm>
          <a:prstGeom prst="rect">
            <a:avLst/>
          </a:prstGeom>
        </p:spPr>
      </p:pic>
      <p:sp>
        <p:nvSpPr>
          <p:cNvPr id="10" name="da:p6-num2" descr="{&quot;id&quot;: &quot;p6-num2&quot;, &quot;text&quot;: &quot;02&quot;, &quot;style&quot;: &quot;caption&quot;, &quot;align&quot;: &quot;right&quot;, &quot;geometry&quot;: {&quot;x&quot;: 0.875, &quot;y&quot;: 0.248364, &quot;w&quot;: 0.04, &quot;h&quot;: 0.0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10667999" y="1703280"/>
            <a:ext cx="487680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1" name="da:p6-title2" descr="{&quot;id&quot;: &quot;p6-title2&quot;, &quot;text&quot;: &quot;权限控制&quot;, &quot;style&quot;: &quot;card_title&quot;, &quot;geometry&quot;: {&quot;x&quot;: 0.534545, &quot;y&quot;: 0.31136400000000003, &quot;w&quot;: 0.380455, &quot;h&quot;: 0.06}, &quot;kind&quot;: &quot;text&quot;, &quot;resolved_style&quot;: {&quot;style_token&quot;: &quot;card_title&quot;, &quot;font_family&quot;: &quot;Noto Sans CJK SC&quot;, &quot;font_size&quot;: 22.0, &quot;bold&quot;: true, &quot;color&quot;: &quot;A8F0A2&quot;, &quot;line_height&quot;: 1.2, &quot;letter_spacing&quot;: null}}"/>
          <p:cNvSpPr txBox="1"/>
          <p:nvPr/>
        </p:nvSpPr>
        <p:spPr>
          <a:xfrm>
            <a:off x="6517172" y="2135334"/>
            <a:ext cx="4638507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A8F0A2"/>
                </a:solidFill>
                <a:latin typeface="Noto Sans CJK SC"/>
                <a:ea typeface="Noto Sans CJK SC"/>
              </a:rPr>
              <a:t>权限控制</a:t>
            </a:r>
          </a:p>
        </p:txBody>
      </p:sp>
      <p:sp>
        <p:nvSpPr>
          <p:cNvPr id="12" name="da:p6-desc2" descr="{&quot;id&quot;: &quot;p6-desc2&quot;, &quot;text&quot;: &quot;工具白名单、数据范围与人工确认点。&quot;, &quot;style&quot;: &quot;body_small&quot;, &quot;geometry&quot;: {&quot;x&quot;: 0.534545, &quot;y&quot;: 0.38636400000000004, &quot;w&quot;: 0.380455, &quot;h&quot;: 0.12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6517172" y="2649684"/>
            <a:ext cx="4638507" cy="6172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工具白名单、数据范围与人工确认点。</a:t>
            </a:r>
          </a:p>
        </p:txBody>
      </p:sp>
      <p:sp>
        <p:nvSpPr>
          <p:cNvPr id="13" name="da:p6-card3" descr="{&quot;id&quot;: &quot;p6-card3&quot;, &quot;shape&quot;: &quot;rounded_rectangle&quot;, &quot;fill_token&quot;: &quot;card&quot;, &quot;layer&quot;: &quot;background&quot;, &quot;geometry&quot;: {&quot;x&quot;: 0.07, &quot;y&quot;: 0.558636, &quot;w&quot;: 0.410455, &quot;h&quot;: 0.30295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853440" y="3831126"/>
            <a:ext cx="5004267" cy="2077665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da:p6-icon3" descr="{&quot;kind&quot;: &quot;component&quot;, &quot;layer&quot;: &quot;content&quot;, &quot;anchor&quot;: null, &quot;overlap_group&quot;: &quot;component:p6-icon3&quot;, &quot;vector&quot;: true, &quot;component&quot;: {&quot;component_id&quot;: &quot;icons.layers&quot;, &quot;version&quot;: &quot;1.0.0&quot;, &quot;variant&quot;: &quot;default&quot;, &quot;params&quot;: {&quot;color&quot;: &quot;accent&quot;}, &quot;texts&quot;: {}, &quot;svg_sha256&quot;: &quot;226813e229c6da41c121df9e2c6b1cd4248450606c786cd8a47e81d1d15288ff&quot;, &quot;svg_template_sha256&quot;: &quot;10eaa80a0a94466cb2722d442b843faf8ef5672322c316fb782ee82b094d9651&quot;, &quot;profile_id&quot;: &quot;tech_dark&quot;, &quot;vector&quot;: true}, &quot;texts&quot;: {}}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2896" y="3982002"/>
            <a:ext cx="384048" cy="384048"/>
          </a:xfrm>
          <a:prstGeom prst="rect">
            <a:avLst/>
          </a:prstGeom>
        </p:spPr>
      </p:pic>
      <p:sp>
        <p:nvSpPr>
          <p:cNvPr id="15" name="da:p6-num3" descr="{&quot;id&quot;: &quot;p6-num3&quot;, &quot;text&quot;: &quot;03&quot;, &quot;style&quot;: &quot;caption&quot;, &quot;align&quot;: &quot;right&quot;, &quot;geometry&quot;: {&quot;x&quot;: 0.425455, &quot;y&quot;: 0.580636, &quot;w&quot;: 0.04, &quot;h&quot;: 0.0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5187147" y="3982002"/>
            <a:ext cx="487680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6" name="da:p6-title3" descr="{&quot;id&quot;: &quot;p6-title3&quot;, &quot;text&quot;: &quot;文件工作区&quot;, &quot;style&quot;: &quot;card_title&quot;, &quot;geometry&quot;: {&quot;x&quot;: 0.085, &quot;y&quot;: 0.643636, &quot;w&quot;: 0.380455, &quot;h&quot;: 0.06}, &quot;kind&quot;: &quot;text&quot;, &quot;resolved_style&quot;: {&quot;style_token&quot;: &quot;card_title&quot;, &quot;font_family&quot;: &quot;Noto Sans CJK SC&quot;, &quot;font_size&quot;: 22.0, &quot;bold&quot;: true, &quot;color&quot;: &quot;A8F0A2&quot;, &quot;line_height&quot;: 1.2, &quot;letter_spacing&quot;: null}}"/>
          <p:cNvSpPr txBox="1"/>
          <p:nvPr/>
        </p:nvSpPr>
        <p:spPr>
          <a:xfrm>
            <a:off x="1036320" y="4414056"/>
            <a:ext cx="4638507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A8F0A2"/>
                </a:solidFill>
                <a:latin typeface="Noto Sans CJK SC"/>
                <a:ea typeface="Noto Sans CJK SC"/>
              </a:rPr>
              <a:t>文件工作区</a:t>
            </a:r>
          </a:p>
        </p:txBody>
      </p:sp>
      <p:sp>
        <p:nvSpPr>
          <p:cNvPr id="17" name="da:p6-desc3" descr="{&quot;id&quot;: &quot;p6-desc3&quot;, &quot;text&quot;: &quot;统一读写、隔离存储、产物即时预览。&quot;, &quot;style&quot;: &quot;body_small&quot;, &quot;geometry&quot;: {&quot;x&quot;: 0.085, &quot;y&quot;: 0.718636, &quot;w&quot;: 0.380455, &quot;h&quot;: 0.12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1036320" y="4928406"/>
            <a:ext cx="4638507" cy="6172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统一读写、隔离存储、产物即时预览。</a:t>
            </a:r>
          </a:p>
        </p:txBody>
      </p:sp>
      <p:sp>
        <p:nvSpPr>
          <p:cNvPr id="18" name="da:p6-card4" descr="{&quot;id&quot;: &quot;p6-card4&quot;, &quot;shape&quot;: &quot;rounded_rectangle&quot;, &quot;fill_token&quot;: &quot;card&quot;, &quot;layer&quot;: &quot;background&quot;, &quot;geometry&quot;: {&quot;x&quot;: 0.519545, &quot;y&quot;: 0.558636, &quot;w&quot;: 0.410455, &quot;h&quot;: 0.30295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42B36&quot;}"/>
          <p:cNvSpPr/>
          <p:nvPr/>
        </p:nvSpPr>
        <p:spPr>
          <a:xfrm>
            <a:off x="6334292" y="3831126"/>
            <a:ext cx="5004267" cy="2077665"/>
          </a:xfrm>
          <a:prstGeom prst="roundRect">
            <a:avLst/>
          </a:prstGeom>
          <a:solidFill>
            <a:srgbClr val="14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a:p6-icon4" descr="{&quot;kind&quot;: &quot;component&quot;, &quot;layer&quot;: &quot;content&quot;, &quot;anchor&quot;: null, &quot;overlap_group&quot;: &quot;component:p6-icon4&quot;, &quot;vector&quot;: true, &quot;component&quot;: {&quot;component_id&quot;: &quot;icons.check&quot;, &quot;version&quot;: &quot;1.0.0&quot;, &quot;variant&quot;: &quot;default&quot;, &quot;params&quot;: {&quot;color&quot;: &quot;accent&quot;}, &quot;texts&quot;: {}, &quot;svg_sha256&quot;: &quot;d0a415a48a499e368455c4f1ffcc0f0e9eb55ab480862985e7d31c629d4d4c6e&quot;, &quot;svg_template_sha256&quot;: &quot;af7355a710ea1acc3b3751b4ced40761b319efe0ff07e7369fb6963aab2db5e9&quot;, &quot;profile_id&quot;: &quot;tech_dark&quot;, &quot;vector&quot;: true}, &quot;texts&quot;: {}}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53748" y="3982002"/>
            <a:ext cx="384048" cy="384048"/>
          </a:xfrm>
          <a:prstGeom prst="rect">
            <a:avLst/>
          </a:prstGeom>
        </p:spPr>
      </p:pic>
      <p:sp>
        <p:nvSpPr>
          <p:cNvPr id="20" name="da:p6-num4" descr="{&quot;id&quot;: &quot;p6-num4&quot;, &quot;text&quot;: &quot;04&quot;, &quot;style&quot;: &quot;caption&quot;, &quot;align&quot;: &quot;right&quot;, &quot;geometry&quot;: {&quot;x&quot;: 0.875, &quot;y&quot;: 0.580636, &quot;w&quot;: 0.04, &quot;h&quot;: 0.0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10667999" y="3982002"/>
            <a:ext cx="487680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1" name="da:p6-title4" descr="{&quot;id&quot;: &quot;p6-title4&quot;, &quot;text&quot;: &quot;审查与记录&quot;, &quot;style&quot;: &quot;card_title&quot;, &quot;geometry&quot;: {&quot;x&quot;: 0.534545, &quot;y&quot;: 0.643636, &quot;w&quot;: 0.380455, &quot;h&quot;: 0.06}, &quot;kind&quot;: &quot;text&quot;, &quot;resolved_style&quot;: {&quot;style_token&quot;: &quot;card_title&quot;, &quot;font_family&quot;: &quot;Noto Sans CJK SC&quot;, &quot;font_size&quot;: 22.0, &quot;bold&quot;: true, &quot;color&quot;: &quot;A8F0A2&quot;, &quot;line_height&quot;: 1.2, &quot;letter_spacing&quot;: null}}"/>
          <p:cNvSpPr txBox="1"/>
          <p:nvPr/>
        </p:nvSpPr>
        <p:spPr>
          <a:xfrm>
            <a:off x="6517172" y="4414056"/>
            <a:ext cx="4638507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A8F0A2"/>
                </a:solidFill>
                <a:latin typeface="Noto Sans CJK SC"/>
                <a:ea typeface="Noto Sans CJK SC"/>
              </a:rPr>
              <a:t>审查与记录</a:t>
            </a:r>
          </a:p>
        </p:txBody>
      </p:sp>
      <p:sp>
        <p:nvSpPr>
          <p:cNvPr id="22" name="da:p6-desc4" descr="{&quot;id&quot;: &quot;p6-desc4&quot;, &quot;text&quot;: &quot;自动校验、逐页审查、版本快照与回滚。&quot;, &quot;style&quot;: &quot;body_small&quot;, &quot;geometry&quot;: {&quot;x&quot;: 0.534545, &quot;y&quot;: 0.718636, &quot;w&quot;: 0.380455, &quot;h&quot;: 0.12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6517172" y="4928406"/>
            <a:ext cx="4638507" cy="6172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自动校验、逐页审查、版本快照与回滚。</a:t>
            </a:r>
          </a:p>
        </p:txBody>
      </p:sp>
      <p:sp>
        <p:nvSpPr>
          <p:cNvPr id="23" name="da:p6-foot" descr="{&quot;id&quot;: &quot;p6-foot&quot;, &quot;text&quot;: &quot;内部方案演示 ｜ 06 / 12&quot;, &quot;style&quot;: &quot;caption&quot;, &quot;anchor&quot;: &quot;footer&quot;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731520" y="6309360"/>
            <a:ext cx="10728959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内部方案演示 ｜ 06 / 12</a:t>
            </a:r>
          </a:p>
        </p:txBody>
      </p:sp>
      <p:sp>
        <p:nvSpPr>
          <p:cNvPr id="24" name="da:p6-cap1" descr="{&quot;id&quot;: &quot;p6-cap1&quot;, &quot;text&quot;: &quot;落点｜Agent 执行层&quot;, &quot;style&quot;: &quot;caption&quot;, &quot;geometry&quot;: {&quot;x&quot;: 0.085, &quot;y&quot;: 0.471364, &quot;w&quot;: 0.380455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1036320" y="3266904"/>
            <a:ext cx="4638507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落点｜Agent 执行层</a:t>
            </a:r>
          </a:p>
        </p:txBody>
      </p:sp>
      <p:sp>
        <p:nvSpPr>
          <p:cNvPr id="25" name="da:p6-cap2" descr="{&quot;id&quot;: &quot;p6-cap2&quot;, &quot;text&quot;: &quot;落点｜授权与策略&quot;, &quot;style&quot;: &quot;caption&quot;, &quot;geometry&quot;: {&quot;x&quot;: 0.534545, &quot;y&quot;: 0.471364, &quot;w&quot;: 0.380455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6517172" y="3266904"/>
            <a:ext cx="4638507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落点｜授权与策略</a:t>
            </a:r>
          </a:p>
        </p:txBody>
      </p:sp>
      <p:sp>
        <p:nvSpPr>
          <p:cNvPr id="26" name="da:p6-cap3" descr="{&quot;id&quot;: &quot;p6-cap3&quot;, &quot;text&quot;: &quot;落点｜沙箱文件系统&quot;, &quot;style&quot;: &quot;caption&quot;, &quot;geometry&quot;: {&quot;x&quot;: 0.085, &quot;y&quot;: 0.803636, &quot;w&quot;: 0.380455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1036320" y="5545626"/>
            <a:ext cx="4638507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落点｜沙箱文件系统</a:t>
            </a:r>
          </a:p>
        </p:txBody>
      </p:sp>
      <p:sp>
        <p:nvSpPr>
          <p:cNvPr id="27" name="da:p6-cap4" descr="{&quot;id&quot;: &quot;p6-cap4&quot;, &quot;text&quot;: &quot;落点｜质量与版本&quot;, &quot;style&quot;: &quot;caption&quot;, &quot;geometry&quot;: {&quot;x&quot;: 0.534545, &quot;y&quot;: 0.803636, &quot;w&quot;: 0.380455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6517172" y="5545626"/>
            <a:ext cx="4638507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落点｜质量与版本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slide-007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:p7-title" descr="{&quot;id&quot;: &quot;p7-title&quot;, &quot;text&quot;: &quot;同样的任务，Agent 把多次交接收敛为一条执行链&quot;, &quot;style&quot;: &quot;slide_title&quot;, &quot;anchor&quot;: &quot;title&quot;, &quot;kind&quot;: &quot;text&quot;, &quot;resolved_style&quot;: {&quot;style_token&quot;: &quot;slide_title&quot;, &quot;font_family&quot;: &quot;Noto Sans CJK SC&quot;, &quot;font_size&quot;: 32.0, &quot;bold&quot;: true, &quot;color&quot;: &quot;F2FBF6&quot;, &quot;line_height&quot;: 1.2, &quot;letter_spacing&quot;: null}}"/>
          <p:cNvSpPr txBox="1"/>
          <p:nvPr/>
        </p:nvSpPr>
        <p:spPr>
          <a:xfrm>
            <a:off x="853440" y="480060"/>
            <a:ext cx="10485119" cy="93829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2FBF6"/>
                </a:solidFill>
                <a:latin typeface="Noto Sans CJK SC"/>
                <a:ea typeface="Noto Sans CJK SC"/>
              </a:rPr>
              <a:t>同样的任务，Agent 把多次交接收敛为一条执行链</a:t>
            </a:r>
          </a:p>
        </p:txBody>
      </p:sp>
      <p:sp>
        <p:nvSpPr>
          <p:cNvPr id="3" name="da:p7-left-bg" descr="{&quot;id&quot;: &quot;p7-left-bg&quot;, &quot;shape&quot;: &quot;rounded_rectangle&quot;, &quot;fill_token&quot;: &quot;surface&quot;, &quot;layer&quot;: &quot;background&quot;, &quot;geometry&quot;: {&quot;x&quot;: 0.07, &quot;y&quot;: 0.27, &quot;w&quot;: 0.42, &quot;h&quot;: 0.54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11F2B&quot;}"/>
          <p:cNvSpPr/>
          <p:nvPr/>
        </p:nvSpPr>
        <p:spPr>
          <a:xfrm>
            <a:off x="853440" y="1851660"/>
            <a:ext cx="5120640" cy="3703320"/>
          </a:xfrm>
          <a:prstGeom prst="roundRect">
            <a:avLst/>
          </a:prstGeom>
          <a:solidFill>
            <a:srgbClr val="11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a:p7-right-bg" descr="{&quot;id&quot;: &quot;p7-right-bg&quot;, &quot;shape&quot;: &quot;rounded_rectangle&quot;, &quot;fill_token&quot;: &quot;accent_soft&quot;, &quot;layer&quot;: &quot;background&quot;, &quot;geometry&quot;: {&quot;x&quot;: 0.52, &quot;y&quot;: 0.27, &quot;w&quot;: 0.42, &quot;h&quot;: 0.54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B3A44&quot;}"/>
          <p:cNvSpPr/>
          <p:nvPr/>
        </p:nvSpPr>
        <p:spPr>
          <a:xfrm>
            <a:off x="6339839" y="1851660"/>
            <a:ext cx="5120640" cy="3703320"/>
          </a:xfrm>
          <a:prstGeom prst="roundRect">
            <a:avLst/>
          </a:prstGeom>
          <a:solidFill>
            <a:srgbClr val="1B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:p7-right-line" descr="{&quot;id&quot;: &quot;p7-right-line&quot;, &quot;shape&quot;: &quot;rectangle&quot;, &quot;fill_token&quot;: &quot;accent&quot;, &quot;layer&quot;: &quot;decoration&quot;, &quot;geometry&quot;: {&quot;x&quot;: 0.545, &quot;y&quot;: 0.288, &quot;w&quot;: 0.08, &quot;h&quot;: 0.004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6644639" y="1975104"/>
            <a:ext cx="975360" cy="27432"/>
          </a:xfrm>
          <a:prstGeom prst="rect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a:p7-left-kicker" descr="{&quot;id&quot;: &quot;p7-left-kicker&quot;, &quot;text&quot;: &quot;现状 / BEFORE&quot;, &quot;style&quot;: &quot;caption&quot;, &quot;geometry&quot;: {&quot;x&quot;: 0.1, &quot;y&quot;: 0.298, &quot;w&quot;: 0.3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1219200" y="2043684"/>
            <a:ext cx="365760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现状 / BEFORE</a:t>
            </a:r>
          </a:p>
        </p:txBody>
      </p:sp>
      <p:sp>
        <p:nvSpPr>
          <p:cNvPr id="7" name="da:p7-right-kicker" descr="{&quot;id&quot;: &quot;p7-right-kicker&quot;, &quot;text&quot;: &quot;目标 / AFTER&quot;, &quot;style&quot;: &quot;caption&quot;, &quot;geometry&quot;: {&quot;x&quot;: 0.55, &quot;y&quot;: 0.31, &quot;w&quot;: 0.3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6705599" y="2125980"/>
            <a:ext cx="365760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目标 / AFTER</a:t>
            </a:r>
          </a:p>
        </p:txBody>
      </p:sp>
      <p:sp>
        <p:nvSpPr>
          <p:cNvPr id="8" name="da:p7-left-head" descr="{&quot;id&quot;: &quot;p7-left-head&quot;, &quot;text&quot;: &quot;传统人工流程&quot;, &quot;style&quot;: &quot;body&quot;, &quot;geometry&quot;: {&quot;x&quot;: 0.1, &quot;y&quot;: 0.345, &quot;w&quot;: 0.35, &quot;h&quot;: 0.065}, &quot;kind&quot;: &quot;tex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SpPr txBox="1"/>
          <p:nvPr/>
        </p:nvSpPr>
        <p:spPr>
          <a:xfrm>
            <a:off x="1219200" y="2366010"/>
            <a:ext cx="4267200" cy="44577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传统人工流程</a:t>
            </a:r>
          </a:p>
        </p:txBody>
      </p:sp>
      <p:sp>
        <p:nvSpPr>
          <p:cNvPr id="9" name="da:p7-right-head" descr="{&quot;id&quot;: &quot;p7-right-head&quot;, &quot;text&quot;: &quot;Agent 工作流&quot;, &quot;style&quot;: &quot;card_title&quot;, &quot;geometry&quot;: {&quot;x&quot;: 0.55, &quot;y&quot;: 0.345, &quot;w&quot;: 0.35, &quot;h&quot;: 0.065}, &quot;kind&quot;: &quot;text&quot;, &quot;resolved_style&quot;: {&quot;style_token&quot;: &quot;card_title&quot;, &quot;font_family&quot;: &quot;Noto Sans CJK SC&quot;, &quot;font_size&quot;: 22.0, &quot;bold&quot;: true, &quot;color&quot;: &quot;A8F0A2&quot;, &quot;line_height&quot;: 1.2, &quot;letter_spacing&quot;: null}}"/>
          <p:cNvSpPr txBox="1"/>
          <p:nvPr/>
        </p:nvSpPr>
        <p:spPr>
          <a:xfrm>
            <a:off x="6705599" y="2468880"/>
            <a:ext cx="4267200" cy="44577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A8F0A2"/>
                </a:solidFill>
                <a:latin typeface="Noto Sans CJK SC"/>
                <a:ea typeface="Noto Sans CJK SC"/>
              </a:rPr>
              <a:t>Agent 工作流</a:t>
            </a:r>
          </a:p>
        </p:txBody>
      </p:sp>
      <p:sp>
        <p:nvSpPr>
          <p:cNvPr id="10" name="da:p7-lnum1" descr="{&quot;id&quot;: &quot;p7-lnum1&quot;, &quot;text&quot;: &quot;01&quot;, &quot;style&quot;: &quot;caption&quot;, &quot;geometry&quot;: {&quot;x&quot;: 0.1, &quot;y&quot;: 0.455, &quot;w&quot;: 0.04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1219200" y="3120390"/>
            <a:ext cx="48768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1" name="da:p7-lstep1" descr="{&quot;id&quot;: &quot;p7-lstep1&quot;, &quot;text&quot;: &quot;接收需求，口头确认范围&quot;, &quot;style&quot;: &quot;body_small&quot;, &quot;geometry&quot;: {&quot;x&quot;: 0.15, &quot;y&quot;: 0.453, &quot;w&quot;: 0.325, &quot;h&quot;: 0.05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1828800" y="3106674"/>
            <a:ext cx="3962400" cy="37719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接收需求，口头确认范围</a:t>
            </a:r>
          </a:p>
        </p:txBody>
      </p:sp>
      <p:sp>
        <p:nvSpPr>
          <p:cNvPr id="12" name="da:p7-rnum1" descr="{&quot;id&quot;: &quot;p7-rnum1&quot;, &quot;text&quot;: &quot;01&quot;, &quot;style&quot;: &quot;caption&quot;, &quot;geometry&quot;: {&quot;x&quot;: 0.55, &quot;y&quot;: 0.455, &quot;w&quot;: 0.04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6705599" y="3120390"/>
            <a:ext cx="48768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3" name="da:p7-rstep1" descr="{&quot;id&quot;: &quot;p7-rstep1&quot;, &quot;text&quot;: &quot;描述目标、材料与验收标准&quot;, &quot;style&quot;: &quot;body_small&quot;, &quot;geometry&quot;: {&quot;x&quot;: 0.6, &quot;y&quot;: 0.453, &quot;w&quot;: 0.325, &quot;h&quot;: 0.05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7315199" y="3106674"/>
            <a:ext cx="3962400" cy="37719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描述目标、材料与验收标准</a:t>
            </a:r>
          </a:p>
        </p:txBody>
      </p:sp>
      <p:sp>
        <p:nvSpPr>
          <p:cNvPr id="14" name="da:p7-lnum2" descr="{&quot;id&quot;: &quot;p7-lnum2&quot;, &quot;text&quot;: &quot;02&quot;, &quot;style&quot;: &quot;caption&quot;, &quot;geometry&quot;: {&quot;x&quot;: 0.1, &quot;y&quot;: 0.52, &quot;w&quot;: 0.04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1219200" y="3566160"/>
            <a:ext cx="48768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5" name="da:p7-lstep2" descr="{&quot;id&quot;: &quot;p7-lstep2&quot;, &quot;text&quot;: &quot;查找资料与历史模板&quot;, &quot;style&quot;: &quot;body_small&quot;, &quot;geometry&quot;: {&quot;x&quot;: 0.15, &quot;y&quot;: 0.518, &quot;w&quot;: 0.325, &quot;h&quot;: 0.05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1828800" y="3552444"/>
            <a:ext cx="3962400" cy="37719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查找资料与历史模板</a:t>
            </a:r>
          </a:p>
        </p:txBody>
      </p:sp>
      <p:sp>
        <p:nvSpPr>
          <p:cNvPr id="16" name="da:p7-rnum2" descr="{&quot;id&quot;: &quot;p7-rnum2&quot;, &quot;text&quot;: &quot;02&quot;, &quot;style&quot;: &quot;caption&quot;, &quot;geometry&quot;: {&quot;x&quot;: 0.55, &quot;y&quot;: 0.52, &quot;w&quot;: 0.04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6705599" y="3566160"/>
            <a:ext cx="48768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7" name="da:p7-rstep2" descr="{&quot;id&quot;: &quot;p7-rstep2&quot;, &quot;text&quot;: &quot;拆解任务并规划步骤&quot;, &quot;style&quot;: &quot;body_small&quot;, &quot;geometry&quot;: {&quot;x&quot;: 0.6, &quot;y&quot;: 0.518, &quot;w&quot;: 0.325, &quot;h&quot;: 0.05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7315199" y="3552444"/>
            <a:ext cx="3962400" cy="37719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拆解任务并规划步骤</a:t>
            </a:r>
          </a:p>
        </p:txBody>
      </p:sp>
      <p:sp>
        <p:nvSpPr>
          <p:cNvPr id="18" name="da:p7-lnum3" descr="{&quot;id&quot;: &quot;p7-lnum3&quot;, &quot;text&quot;: &quot;03&quot;, &quot;style&quot;: &quot;caption&quot;, &quot;geometry&quot;: {&quot;x&quot;: 0.1, &quot;y&quot;: 0.585, &quot;w&quot;: 0.04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1219200" y="4011930"/>
            <a:ext cx="48768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9" name="da:p7-lstep3" descr="{&quot;id&quot;: &quot;p7-lstep3&quot;, &quot;text&quot;: &quot;手工排版、逐页调整&quot;, &quot;style&quot;: &quot;body_small&quot;, &quot;geometry&quot;: {&quot;x&quot;: 0.15, &quot;y&quot;: 0.583, &quot;w&quot;: 0.325, &quot;h&quot;: 0.05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1828800" y="3998214"/>
            <a:ext cx="3962400" cy="37719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手工排版、逐页调整</a:t>
            </a:r>
          </a:p>
        </p:txBody>
      </p:sp>
      <p:sp>
        <p:nvSpPr>
          <p:cNvPr id="20" name="da:p7-rnum3" descr="{&quot;id&quot;: &quot;p7-rnum3&quot;, &quot;text&quot;: &quot;03&quot;, &quot;style&quot;: &quot;caption&quot;, &quot;geometry&quot;: {&quot;x&quot;: 0.55, &quot;y&quot;: 0.585, &quot;w&quot;: 0.04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6705599" y="4011930"/>
            <a:ext cx="48768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1" name="da:p7-rstep3" descr="{&quot;id&quot;: &quot;p7-rstep3&quot;, &quot;text&quot;: &quot;受控调用工具，沙箱执行&quot;, &quot;style&quot;: &quot;body_small&quot;, &quot;geometry&quot;: {&quot;x&quot;: 0.6, &quot;y&quot;: 0.583, &quot;w&quot;: 0.325, &quot;h&quot;: 0.05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7315199" y="3998214"/>
            <a:ext cx="3962400" cy="37719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受控调用工具，沙箱执行</a:t>
            </a:r>
          </a:p>
        </p:txBody>
      </p:sp>
      <p:sp>
        <p:nvSpPr>
          <p:cNvPr id="22" name="da:p7-lnum4" descr="{&quot;id&quot;: &quot;p7-lnum4&quot;, &quot;text&quot;: &quot;04&quot;, &quot;style&quot;: &quot;caption&quot;, &quot;geometry&quot;: {&quot;x&quot;: 0.1, &quot;y&quot;: 0.65, &quot;w&quot;: 0.04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1219200" y="4457700"/>
            <a:ext cx="48768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3" name="da:p7-lstep4" descr="{&quot;id&quot;: &quot;p7-lstep4&quot;, &quot;text&quot;: &quot;多轮往返修改&quot;, &quot;style&quot;: &quot;body_small&quot;, &quot;geometry&quot;: {&quot;x&quot;: 0.15, &quot;y&quot;: 0.648, &quot;w&quot;: 0.325, &quot;h&quot;: 0.05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1828800" y="4443984"/>
            <a:ext cx="3962400" cy="37719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多轮往返修改</a:t>
            </a:r>
          </a:p>
        </p:txBody>
      </p:sp>
      <p:sp>
        <p:nvSpPr>
          <p:cNvPr id="24" name="da:p7-rnum4" descr="{&quot;id&quot;: &quot;p7-rnum4&quot;, &quot;text&quot;: &quot;04&quot;, &quot;style&quot;: &quot;caption&quot;, &quot;geometry&quot;: {&quot;x&quot;: 0.55, &quot;y&quot;: 0.65, &quot;w&quot;: 0.04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6705599" y="4457700"/>
            <a:ext cx="48768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5" name="da:p7-rstep4" descr="{&quot;id&quot;: &quot;p7-rstep4&quot;, &quot;text&quot;: &quot;自动校验与逐页审查&quot;, &quot;style&quot;: &quot;body_small&quot;, &quot;geometry&quot;: {&quot;x&quot;: 0.6, &quot;y&quot;: 0.648, &quot;w&quot;: 0.325, &quot;h&quot;: 0.05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7315199" y="4443984"/>
            <a:ext cx="3962400" cy="37719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自动校验与逐页审查</a:t>
            </a:r>
          </a:p>
        </p:txBody>
      </p:sp>
      <p:sp>
        <p:nvSpPr>
          <p:cNvPr id="26" name="da:p7-lnum5" descr="{&quot;id&quot;: &quot;p7-lnum5&quot;, &quot;text&quot;: &quot;05&quot;, &quot;style&quot;: &quot;caption&quot;, &quot;geometry&quot;: {&quot;x&quot;: 0.1, &quot;y&quot;: 0.7150000000000001, &quot;w&quot;: 0.04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1219200" y="4903470"/>
            <a:ext cx="48768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27" name="da:p7-lstep5" descr="{&quot;id&quot;: &quot;p7-lstep5&quot;, &quot;text&quot;: &quot;邮件归档，版本分散&quot;, &quot;style&quot;: &quot;body_small&quot;, &quot;geometry&quot;: {&quot;x&quot;: 0.15, &quot;y&quot;: 0.7130000000000001, &quot;w&quot;: 0.325, &quot;h&quot;: 0.05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1828800" y="4889754"/>
            <a:ext cx="3962400" cy="37719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邮件归档，版本分散</a:t>
            </a:r>
          </a:p>
        </p:txBody>
      </p:sp>
      <p:sp>
        <p:nvSpPr>
          <p:cNvPr id="28" name="da:p7-rnum5" descr="{&quot;id&quot;: &quot;p7-rnum5&quot;, &quot;text&quot;: &quot;05&quot;, &quot;style&quot;: &quot;caption&quot;, &quot;geometry&quot;: {&quot;x&quot;: 0.55, &quot;y&quot;: 0.7150000000000001, &quot;w&quot;: 0.04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6705599" y="4903470"/>
            <a:ext cx="48768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29" name="da:p7-rstep5" descr="{&quot;id&quot;: &quot;p7-rstep5&quot;, &quot;text&quot;: &quot;版本化交付，过程可回溯&quot;, &quot;style&quot;: &quot;body_small&quot;, &quot;geometry&quot;: {&quot;x&quot;: 0.6, &quot;y&quot;: 0.7130000000000001, &quot;w&quot;: 0.325, &quot;h&quot;: 0.05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7315199" y="4889754"/>
            <a:ext cx="3962400" cy="37719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版本化交付，过程可回溯</a:t>
            </a:r>
          </a:p>
        </p:txBody>
      </p:sp>
      <p:sp>
        <p:nvSpPr>
          <p:cNvPr id="30" name="da:p7-arrow" descr="{&quot;id&quot;: &quot;p7-arrow&quot;, &quot;shape&quot;: &quot;arrow&quot;, &quot;fill_token&quot;: &quot;accent&quot;, &quot;layer&quot;: &quot;decoration&quot;, &quot;geometry&quot;: {&quot;x&quot;: 0.4925, &quot;y&quot;: 0.5, &quot;w&quot;: 0.025, &quot;h&quot;: 0.03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6004560" y="3566160"/>
            <a:ext cx="304800" cy="240030"/>
          </a:xfrm>
          <a:prstGeom prst="rightArrow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a:p7-takeaway" descr="{&quot;id&quot;: &quot;p7-takeaway&quot;, &quot;text&quot;: &quot;变化不只在生成速度，更在交接、校验与追溯被收进同一条执行链。&quot;, &quot;style&quot;: &quot;body_small&quot;, &quot;geometry&quot;: {&quot;x&quot;: 0.07, &quot;y&quot;: 0.83, &quot;w&quot;: 0.86, &quot;h&quot;: 0.05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853440" y="5692140"/>
            <a:ext cx="10485119" cy="37719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变化不只在生成速度，更在交接、校验与追溯被收进同一条执行链。</a:t>
            </a:r>
          </a:p>
        </p:txBody>
      </p:sp>
      <p:sp>
        <p:nvSpPr>
          <p:cNvPr id="32" name="da:p7-foot" descr="{&quot;id&quot;: &quot;p7-foot&quot;, &quot;text&quot;: &quot;内部方案演示 ｜ 07 / 12&quot;, &quot;style&quot;: &quot;caption&quot;, &quot;anchor&quot;: &quot;footer&quot;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731520" y="6309360"/>
            <a:ext cx="10728959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内部方案演示 ｜ 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slide-008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:p8-title" descr="{&quot;id&quot;: &quot;p8-title&quot;, &quot;text&quot;: &quot;效率、质量与成本同时改善，但覆盖率仍需实测&quot;, &quot;style&quot;: &quot;slide_title&quot;, &quot;anchor&quot;: &quot;title&quot;, &quot;kind&quot;: &quot;text&quot;, &quot;resolved_style&quot;: {&quot;style_token&quot;: &quot;slide_title&quot;, &quot;font_family&quot;: &quot;Noto Sans CJK SC&quot;, &quot;font_size&quot;: 32.0, &quot;bold&quot;: true, &quot;color&quot;: &quot;F2FBF6&quot;, &quot;line_height&quot;: 1.2, &quot;letter_spacing&quot;: null}}"/>
          <p:cNvSpPr txBox="1"/>
          <p:nvPr/>
        </p:nvSpPr>
        <p:spPr>
          <a:xfrm>
            <a:off x="853440" y="480060"/>
            <a:ext cx="10485119" cy="80425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2FBF6"/>
                </a:solidFill>
                <a:latin typeface="Noto Sans CJK SC"/>
                <a:ea typeface="Noto Sans CJK SC"/>
              </a:rPr>
              <a:t>效率、质量与成本同时改善，但覆盖率仍需实测</a:t>
            </a:r>
          </a:p>
        </p:txBody>
      </p:sp>
      <p:sp>
        <p:nvSpPr>
          <p:cNvPr id="3" name="da:p8-rule" descr="{&quot;id&quot;: &quot;p8-rule&quot;, &quot;shape&quot;: &quot;rectangle&quot;, &quot;fill_token&quot;: &quot;border&quot;, &quot;layer&quot;: &quot;decoration&quot;, &quot;geometry&quot;: {&quot;x&quot;: 0.07, &quot;y&quot;: 0.205, &quot;w&quot;: 0.86, &quot;h&quot;: 0.001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27454F&quot;}"/>
          <p:cNvSpPr/>
          <p:nvPr/>
        </p:nvSpPr>
        <p:spPr>
          <a:xfrm>
            <a:off x="853440" y="1405890"/>
            <a:ext cx="10485119" cy="10287"/>
          </a:xfrm>
          <a:prstGeom prst="rect">
            <a:avLst/>
          </a:prstGeom>
          <a:solidFill>
            <a:srgbClr val="27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a:p8-metric1" descr="{&quot;id&quot;: &quot;p8-metric1&quot;, &quot;text&quot;: &quot;45&quot;, &quot;style&quot;: &quot;metric&quot;, &quot;anchor&quot;: &quot;metric1&quot;, &quot;kind&quot;: &quot;text&quot;, &quot;resolved_style&quot;: {&quot;style_token&quot;: &quot;metric&quot;, &quot;font_family&quot;: &quot;Noto Sans CJK SC&quot;, &quot;font_size&quot;: 48.0, &quot;bold&quot;: true, &quot;color&quot;: &quot;A8F0A2&quot;, &quot;line_height&quot;: 1.05, &quot;letter_spacing&quot;: null}}"/>
          <p:cNvSpPr txBox="1"/>
          <p:nvPr/>
        </p:nvSpPr>
        <p:spPr>
          <a:xfrm>
            <a:off x="853440" y="1552404"/>
            <a:ext cx="2382987" cy="93829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sz="4800" b="1">
                <a:solidFill>
                  <a:srgbClr val="A8F0A2"/>
                </a:solidFill>
                <a:latin typeface="Noto Sans CJK SC"/>
                <a:ea typeface="Noto Sans CJK SC"/>
              </a:rPr>
              <a:t>45</a:t>
            </a:r>
          </a:p>
        </p:txBody>
      </p:sp>
      <p:sp>
        <p:nvSpPr>
          <p:cNvPr id="5" name="da:p8-label1" descr="{&quot;id&quot;: &quot;p8-label1&quot;, &quot;text&quot;: &quot;平均交付时间（分钟）\n传统流程 120&quot;, &quot;style&quot;: &quot;metric_label&quot;, &quot;geometry&quot;: {&quot;x&quot;: 0.07, &quot;y&quot;: 0.372955, &quot;w&quot;: 0.195455, &quot;h&quot;: 0.085}, &quot;kind&quot;: &quot;text&quot;, &quot;resolved_style&quot;: {&quot;style_token&quot;: &quot;metric_label&quot;, &quot;font_family&quot;: &quot;Noto Sans CJK SC&quot;, &quot;font_size&quot;: 13.0, &quot;bold&quot;: false, &quot;color&quot;: &quot;9DB6C4&quot;, &quot;line_height&quot;: 1.25, &quot;letter_spacing&quot;: null}}"/>
          <p:cNvSpPr txBox="1"/>
          <p:nvPr/>
        </p:nvSpPr>
        <p:spPr>
          <a:xfrm>
            <a:off x="853440" y="2557725"/>
            <a:ext cx="2382987" cy="58293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4200"/>
              </a:lnSpc>
              <a:spcAft>
                <a:spcPts val="400"/>
              </a:spcAft>
            </a:pPr>
            <a:r>
              <a:rPr sz="1300" b="0">
                <a:solidFill>
                  <a:srgbClr val="9DB6C4"/>
                </a:solidFill>
                <a:latin typeface="Noto Sans CJK SC"/>
                <a:ea typeface="Noto Sans CJK SC"/>
              </a:rPr>
              <a:t>平均交付时间（分钟）</a:t>
            </a:r>
          </a:p>
          <a:p>
            <a:pPr>
              <a:lnSpc>
                <a:spcPct val="104200"/>
              </a:lnSpc>
              <a:spcAft>
                <a:spcPts val="400"/>
              </a:spcAft>
            </a:pPr>
            <a:r>
              <a:rPr sz="1300" b="0">
                <a:solidFill>
                  <a:srgbClr val="9DB6C4"/>
                </a:solidFill>
                <a:latin typeface="Noto Sans CJK SC"/>
                <a:ea typeface="Noto Sans CJK SC"/>
              </a:rPr>
              <a:t>传统流程 120</a:t>
            </a:r>
          </a:p>
        </p:txBody>
      </p:sp>
      <p:sp>
        <p:nvSpPr>
          <p:cNvPr id="6" name="da:p8-metric2" descr="{&quot;id&quot;: &quot;p8-metric2&quot;, &quot;text&quot;: &quot;7&quot;, &quot;style&quot;: &quot;metric&quot;, &quot;anchor&quot;: &quot;metric2&quot;, &quot;kind&quot;: &quot;text&quot;, &quot;resolved_style&quot;: {&quot;style_token&quot;: &quot;metric&quot;, &quot;font_family&quot;: &quot;Noto Sans CJK SC&quot;, &quot;font_size&quot;: 48.0, &quot;bold&quot;: true, &quot;color&quot;: &quot;A8F0A2&quot;, &quot;line_height&quot;: 1.05, &quot;letter_spacing&quot;: null}}"/>
          <p:cNvSpPr txBox="1"/>
          <p:nvPr/>
        </p:nvSpPr>
        <p:spPr>
          <a:xfrm>
            <a:off x="3593872" y="1552404"/>
            <a:ext cx="2382987" cy="93829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sz="4800" b="1">
                <a:solidFill>
                  <a:srgbClr val="A8F0A2"/>
                </a:solidFill>
                <a:latin typeface="Noto Sans CJK SC"/>
                <a:ea typeface="Noto Sans CJK SC"/>
              </a:rPr>
              <a:t>7</a:t>
            </a:r>
          </a:p>
        </p:txBody>
      </p:sp>
      <p:sp>
        <p:nvSpPr>
          <p:cNvPr id="7" name="da:p8-label2" descr="{&quot;id&quot;: &quot;p8-label2&quot;, &quot;text&quot;: &quot;人工操作步骤\n传统流程 18&quot;, &quot;style&quot;: &quot;metric_label&quot;, &quot;geometry&quot;: {&quot;x&quot;: 0.294773, &quot;y&quot;: 0.372955, &quot;w&quot;: 0.195455, &quot;h&quot;: 0.085}, &quot;kind&quot;: &quot;text&quot;, &quot;resolved_style&quot;: {&quot;style_token&quot;: &quot;metric_label&quot;, &quot;font_family&quot;: &quot;Noto Sans CJK SC&quot;, &quot;font_size&quot;: 13.0, &quot;bold&quot;: false, &quot;color&quot;: &quot;9DB6C4&quot;, &quot;line_height&quot;: 1.25, &quot;letter_spacing&quot;: null}}"/>
          <p:cNvSpPr txBox="1"/>
          <p:nvPr/>
        </p:nvSpPr>
        <p:spPr>
          <a:xfrm>
            <a:off x="3593872" y="2557725"/>
            <a:ext cx="2382987" cy="58293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4200"/>
              </a:lnSpc>
              <a:spcAft>
                <a:spcPts val="400"/>
              </a:spcAft>
            </a:pPr>
            <a:r>
              <a:rPr sz="1300" b="0">
                <a:solidFill>
                  <a:srgbClr val="9DB6C4"/>
                </a:solidFill>
                <a:latin typeface="Noto Sans CJK SC"/>
                <a:ea typeface="Noto Sans CJK SC"/>
              </a:rPr>
              <a:t>人工操作步骤</a:t>
            </a:r>
          </a:p>
          <a:p>
            <a:pPr>
              <a:lnSpc>
                <a:spcPct val="104200"/>
              </a:lnSpc>
              <a:spcAft>
                <a:spcPts val="400"/>
              </a:spcAft>
            </a:pPr>
            <a:r>
              <a:rPr sz="1300" b="0">
                <a:solidFill>
                  <a:srgbClr val="9DB6C4"/>
                </a:solidFill>
                <a:latin typeface="Noto Sans CJK SC"/>
                <a:ea typeface="Noto Sans CJK SC"/>
              </a:rPr>
              <a:t>传统流程 18</a:t>
            </a:r>
          </a:p>
        </p:txBody>
      </p:sp>
      <p:sp>
        <p:nvSpPr>
          <p:cNvPr id="8" name="da:p8-metric3" descr="{&quot;id&quot;: &quot;p8-metric3&quot;, &quot;text&quot;: &quot;91%&quot;, &quot;style&quot;: &quot;metric&quot;, &quot;anchor&quot;: &quot;metric3&quot;, &quot;kind&quot;: &quot;text&quot;, &quot;resolved_style&quot;: {&quot;style_token&quot;: &quot;metric&quot;, &quot;font_family&quot;: &quot;Noto Sans CJK SC&quot;, &quot;font_size&quot;: 48.0, &quot;bold&quot;: true, &quot;color&quot;: &quot;A8F0A2&quot;, &quot;line_height&quot;: 1.05, &quot;letter_spacing&quot;: null}}"/>
          <p:cNvSpPr txBox="1"/>
          <p:nvPr/>
        </p:nvSpPr>
        <p:spPr>
          <a:xfrm>
            <a:off x="6334292" y="1552404"/>
            <a:ext cx="2382987" cy="93829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sz="4800" b="1">
                <a:solidFill>
                  <a:srgbClr val="A8F0A2"/>
                </a:solidFill>
                <a:latin typeface="Noto Sans CJK SC"/>
                <a:ea typeface="Noto Sans CJK SC"/>
              </a:rPr>
              <a:t>91%</a:t>
            </a:r>
          </a:p>
        </p:txBody>
      </p:sp>
      <p:sp>
        <p:nvSpPr>
          <p:cNvPr id="9" name="da:p8-label3" descr="{&quot;id&quot;: &quot;p8-label3&quot;, &quot;text&quot;: &quot;一次交付通过率\n传统流程 78%&quot;, &quot;style&quot;: &quot;metric_label&quot;, &quot;geometry&quot;: {&quot;x&quot;: 0.519545, &quot;y&quot;: 0.372955, &quot;w&quot;: 0.195455, &quot;h&quot;: 0.085}, &quot;kind&quot;: &quot;text&quot;, &quot;resolved_style&quot;: {&quot;style_token&quot;: &quot;metric_label&quot;, &quot;font_family&quot;: &quot;Noto Sans CJK SC&quot;, &quot;font_size&quot;: 13.0, &quot;bold&quot;: false, &quot;color&quot;: &quot;9DB6C4&quot;, &quot;line_height&quot;: 1.25, &quot;letter_spacing&quot;: null}}"/>
          <p:cNvSpPr txBox="1"/>
          <p:nvPr/>
        </p:nvSpPr>
        <p:spPr>
          <a:xfrm>
            <a:off x="6334292" y="2557725"/>
            <a:ext cx="2382987" cy="58293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4200"/>
              </a:lnSpc>
              <a:spcAft>
                <a:spcPts val="400"/>
              </a:spcAft>
            </a:pPr>
            <a:r>
              <a:rPr sz="1300" b="0">
                <a:solidFill>
                  <a:srgbClr val="9DB6C4"/>
                </a:solidFill>
                <a:latin typeface="Noto Sans CJK SC"/>
                <a:ea typeface="Noto Sans CJK SC"/>
              </a:rPr>
              <a:t>一次交付通过率</a:t>
            </a:r>
          </a:p>
          <a:p>
            <a:pPr>
              <a:lnSpc>
                <a:spcPct val="104200"/>
              </a:lnSpc>
              <a:spcAft>
                <a:spcPts val="400"/>
              </a:spcAft>
            </a:pPr>
            <a:r>
              <a:rPr sz="1300" b="0">
                <a:solidFill>
                  <a:srgbClr val="9DB6C4"/>
                </a:solidFill>
                <a:latin typeface="Noto Sans CJK SC"/>
                <a:ea typeface="Noto Sans CJK SC"/>
              </a:rPr>
              <a:t>传统流程 78%</a:t>
            </a:r>
          </a:p>
        </p:txBody>
      </p:sp>
      <p:sp>
        <p:nvSpPr>
          <p:cNvPr id="10" name="da:p8-metric4" descr="{&quot;id&quot;: &quot;p8-metric4&quot;, &quot;text&quot;: &quot;68&quot;, &quot;style&quot;: &quot;metric&quot;, &quot;anchor&quot;: &quot;metric4&quot;, &quot;kind&quot;: &quot;text&quot;, &quot;resolved_style&quot;: {&quot;style_token&quot;: &quot;metric&quot;, &quot;font_family&quot;: &quot;Noto Sans CJK SC&quot;, &quot;font_size&quot;: 48.0, &quot;bold&quot;: true, &quot;color&quot;: &quot;A8F0A2&quot;, &quot;line_height&quot;: 1.05, &quot;letter_spacing&quot;: null}}"/>
          <p:cNvSpPr txBox="1"/>
          <p:nvPr/>
        </p:nvSpPr>
        <p:spPr>
          <a:xfrm>
            <a:off x="9074724" y="1552404"/>
            <a:ext cx="2382987" cy="93829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sz="4800" b="1">
                <a:solidFill>
                  <a:srgbClr val="A8F0A2"/>
                </a:solidFill>
                <a:latin typeface="Noto Sans CJK SC"/>
                <a:ea typeface="Noto Sans CJK SC"/>
              </a:rPr>
              <a:t>68</a:t>
            </a:r>
          </a:p>
        </p:txBody>
      </p:sp>
      <p:sp>
        <p:nvSpPr>
          <p:cNvPr id="11" name="da:p8-label4" descr="{&quot;id&quot;: &quot;p8-label4&quot;, &quot;text&quot;: &quot;单任务相对成本指数\n传统流程 100&quot;, &quot;style&quot;: &quot;metric_label&quot;, &quot;geometry&quot;: {&quot;x&quot;: 0.744318, &quot;y&quot;: 0.372955, &quot;w&quot;: 0.195455, &quot;h&quot;: 0.085}, &quot;kind&quot;: &quot;text&quot;, &quot;resolved_style&quot;: {&quot;style_token&quot;: &quot;metric_label&quot;, &quot;font_family&quot;: &quot;Noto Sans CJK SC&quot;, &quot;font_size&quot;: 13.0, &quot;bold&quot;: false, &quot;color&quot;: &quot;9DB6C4&quot;, &quot;line_height&quot;: 1.25, &quot;letter_spacing&quot;: null}}"/>
          <p:cNvSpPr txBox="1"/>
          <p:nvPr/>
        </p:nvSpPr>
        <p:spPr>
          <a:xfrm>
            <a:off x="9074724" y="2557725"/>
            <a:ext cx="2382987" cy="58293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4200"/>
              </a:lnSpc>
              <a:spcAft>
                <a:spcPts val="400"/>
              </a:spcAft>
            </a:pPr>
            <a:r>
              <a:rPr sz="1300" b="0">
                <a:solidFill>
                  <a:srgbClr val="9DB6C4"/>
                </a:solidFill>
                <a:latin typeface="Noto Sans CJK SC"/>
                <a:ea typeface="Noto Sans CJK SC"/>
              </a:rPr>
              <a:t>单任务相对成本指数</a:t>
            </a:r>
          </a:p>
          <a:p>
            <a:pPr>
              <a:lnSpc>
                <a:spcPct val="104200"/>
              </a:lnSpc>
              <a:spcAft>
                <a:spcPts val="400"/>
              </a:spcAft>
            </a:pPr>
            <a:r>
              <a:rPr sz="1300" b="0">
                <a:solidFill>
                  <a:srgbClr val="9DB6C4"/>
                </a:solidFill>
                <a:latin typeface="Noto Sans CJK SC"/>
                <a:ea typeface="Noto Sans CJK SC"/>
              </a:rPr>
              <a:t>传统流程 100</a:t>
            </a:r>
          </a:p>
        </p:txBody>
      </p:sp>
      <p:graphicFrame>
        <p:nvGraphicFramePr>
          <p:cNvPr id="12" name="da:p8-table" descr="{&quot;id&quot;: &quot;p8-table&quot;, &quot;rows&quot;: [[&quot;指标&quot;, &quot;传统流程&quot;, &quot;Agent 辅助流程&quot;, &quot;变化&quot;], [&quot;平均交付时间&quot;, &quot;120 分钟&quot;, &quot;45 分钟&quot;, &quot;-62.5%&quot;], [&quot;人工操作步骤&quot;, &quot;18&quot;, &quot;7&quot;, &quot;-61.1%&quot;], [&quot;一次交付通过率&quot;, &quot;78%&quot;, &quot;91%&quot;, &quot;+13 个百分点&quot;], [&quot;单任务相对成本指数&quot;, &quot;100&quot;, &quot;68&quot;, &quot;-32%&quot;]], &quot;geometry&quot;: {&quot;x&quot;: 0.07, &quot;y&quot;: 0.5, &quot;w&quot;: 0.62, &quot;h&quot;: 0.312727}, &quot;kind&quot;: &quot;tabl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GraphicFramePr>
            <a:graphicFrameLocks noGrp="1"/>
          </p:cNvGraphicFramePr>
          <p:nvPr/>
        </p:nvGraphicFramePr>
        <p:xfrm>
          <a:off x="853440" y="3429000"/>
          <a:ext cx="7559039" cy="2144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59"/>
                <a:gridCol w="1889759"/>
                <a:gridCol w="1889759"/>
                <a:gridCol w="1889762"/>
              </a:tblGrid>
              <a:tr h="4289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指标</a:t>
                      </a:r>
                    </a:p>
                  </a:txBody>
                  <a:tcPr>
                    <a:solidFill>
                      <a:srgbClr val="1B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传统流程</a:t>
                      </a:r>
                    </a:p>
                  </a:txBody>
                  <a:tcPr>
                    <a:solidFill>
                      <a:srgbClr val="1B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Agent 辅助流程</a:t>
                      </a:r>
                    </a:p>
                  </a:txBody>
                  <a:tcPr>
                    <a:solidFill>
                      <a:srgbClr val="1B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变化</a:t>
                      </a:r>
                    </a:p>
                  </a:txBody>
                  <a:tcPr>
                    <a:solidFill>
                      <a:srgbClr val="1B3A44"/>
                    </a:solidFill>
                  </a:tcPr>
                </a:tc>
              </a:tr>
              <a:tr h="4289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平均交付时间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120 分钟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45 分钟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-62.5%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</a:tr>
              <a:tr h="4289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人工操作步骤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18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7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-61.1%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</a:tr>
              <a:tr h="4289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一次交付通过率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78%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91%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+13 个百分点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</a:tr>
              <a:tr h="42893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单任务相对成本指数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100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68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-32%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</a:tr>
            </a:tbl>
          </a:graphicData>
        </a:graphic>
      </p:graphicFrame>
      <p:sp>
        <p:nvSpPr>
          <p:cNvPr id="13" name="da:p8-cov-bg" descr="{&quot;id&quot;: &quot;p8-cov-bg&quot;, &quot;shape&quot;: &quot;rounded_rectangle&quot;, &quot;fill_token&quot;: &quot;surface&quot;, &quot;layer&quot;: &quot;background&quot;, &quot;geometry&quot;: {&quot;x&quot;: 0.715, &quot;y&quot;: 0.5, &quot;w&quot;: 0.215, &quot;h&quot;: 0.312727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111F2B&quot;}"/>
          <p:cNvSpPr/>
          <p:nvPr/>
        </p:nvSpPr>
        <p:spPr>
          <a:xfrm>
            <a:off x="8595359" y="3429000"/>
            <a:ext cx="2743200" cy="2144682"/>
          </a:xfrm>
          <a:prstGeom prst="roundRect">
            <a:avLst/>
          </a:prstGeom>
          <a:solidFill>
            <a:srgbClr val="11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a:p8-cov-title" descr="{&quot;id&quot;: &quot;p8-cov-title&quot;, &quot;text&quot;: &quot;覆盖率：待实测&quot;, &quot;style&quot;: &quot;body&quot;, &quot;geometry&quot;: {&quot;x&quot;: 0.735, &quot;y&quot;: 0.525, &quot;w&quot;: 0.18, &quot;h&quot;: 0.06}, &quot;kind&quot;: &quot;tex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SpPr txBox="1"/>
          <p:nvPr/>
        </p:nvSpPr>
        <p:spPr>
          <a:xfrm>
            <a:off x="8839199" y="3600450"/>
            <a:ext cx="225552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覆盖率：待实测</a:t>
            </a:r>
          </a:p>
        </p:txBody>
      </p:sp>
      <p:sp>
        <p:nvSpPr>
          <p:cNvPr id="15" name="da:p8-cov-body" descr="{&quot;id&quot;: &quot;p8-cov-body&quot;, &quot;text&quot;: &quot;覆盖率未纳入模拟。\n建议按类型补充实测。&quot;, &quot;style&quot;: &quot;body_small&quot;, &quot;geometry&quot;: {&quot;x&quot;: 0.735, &quot;y&quot;: 0.6, &quot;w&quot;: 0.175, &quot;h&quot;: 0.19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8839199" y="4114800"/>
            <a:ext cx="2255520" cy="11658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覆盖率未纳入模拟。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建议按类型补充实测。</a:t>
            </a:r>
          </a:p>
        </p:txBody>
      </p:sp>
      <p:sp>
        <p:nvSpPr>
          <p:cNvPr id="16" name="da:p8-foot" descr="{&quot;id&quot;: &quot;p8-foot&quot;, &quot;text&quot;: &quot;演示模拟数据，不代表真实测试结果 ｜ 08 / 12&quot;, &quot;style&quot;: &quot;caption&quot;, &quot;anchor&quot;: &quot;footer&quot;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731520" y="6309360"/>
            <a:ext cx="10728959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演示模拟数据，不代表真实测试结果 ｜ 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slide-009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:p9-title" descr="{&quot;id&quot;: &quot;p9-title&quot;, &quot;text&quot;: &quot;季度任务效率指数连续上升，Q4 达到 94&quot;, &quot;style&quot;: &quot;slide_title&quot;, &quot;anchor&quot;: &quot;title&quot;, &quot;kind&quot;: &quot;text&quot;, &quot;resolved_style&quot;: {&quot;style_token&quot;: &quot;slide_title&quot;, &quot;font_family&quot;: &quot;Noto Sans CJK SC&quot;, &quot;font_size&quot;: 32.0, &quot;bold&quot;: true, &quot;color&quot;: &quot;F2FBF6&quot;, &quot;line_height&quot;: 1.2, &quot;letter_spacing&quot;: null}}"/>
          <p:cNvSpPr txBox="1"/>
          <p:nvPr/>
        </p:nvSpPr>
        <p:spPr>
          <a:xfrm>
            <a:off x="853440" y="480060"/>
            <a:ext cx="10485119" cy="93829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2FBF6"/>
                </a:solidFill>
                <a:latin typeface="Noto Sans CJK SC"/>
                <a:ea typeface="Noto Sans CJK SC"/>
              </a:rPr>
              <a:t>季度任务效率指数连续上升，Q4 达到 94</a:t>
            </a:r>
          </a:p>
        </p:txBody>
      </p:sp>
      <p:graphicFrame>
        <p:nvGraphicFramePr>
          <p:cNvPr id="3" name="da:p9-chart" descr="{&quot;id&quot;: &quot;p9-chart&quot;, &quot;chart&quot;: {&quot;type&quot;: &quot;line&quot;, &quot;categories&quot;: [&quot;Q1&quot;, &quot;Q2&quot;, &quot;Q3&quot;, &quot;Q4&quot;], &quot;series&quot;: [{&quot;name&quot;: &quot;任务效率指数&quot;, &quot;values&quot;: [56, 68, 82, 94]}], &quot;unit&quot;: &quot;指数&quot;}, &quot;geometry&quot;: {&quot;x&quot;: 0.07, &quot;y&quot;: 0.26, &quot;w&quot;: 0.58, &quot;h&quot;: 0.57}, &quot;kind&quot;: &quot;char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GraphicFramePr>
            <a:graphicFrameLocks noGrp="1"/>
          </p:cNvGraphicFramePr>
          <p:nvPr/>
        </p:nvGraphicFramePr>
        <p:xfrm>
          <a:off x="853440" y="1783080"/>
          <a:ext cx="7071359" cy="39090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da:p9-kicker" descr="{&quot;id&quot;: &quot;p9-kicker&quot;, &quot;text&quot;: &quot;阅读 / READING&quot;, &quot;style&quot;: &quot;caption&quot;, &quot;geometry&quot;: {&quot;x&quot;: 0.7, &quot;y&quot;: 0.3, &quot;w&quot;: 0.24, &quot;h&quot;: 0.04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8534399" y="2057400"/>
            <a:ext cx="292608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阅读 / READING</a:t>
            </a:r>
          </a:p>
        </p:txBody>
      </p:sp>
      <p:sp>
        <p:nvSpPr>
          <p:cNvPr id="5" name="da:p9-head" descr="{&quot;id&quot;: &quot;p9-head&quot;, &quot;text&quot;: &quot;增长稳定，Q3 加速&quot;, &quot;style&quot;: &quot;card_title&quot;, &quot;geometry&quot;: {&quot;x&quot;: 0.7, &quot;y&quot;: 0.335, &quot;w&quot;: 0.24, &quot;h&quot;: 0.06}, &quot;kind&quot;: &quot;text&quot;, &quot;resolved_style&quot;: {&quot;style_token&quot;: &quot;card_title&quot;, &quot;font_family&quot;: &quot;Noto Sans CJK SC&quot;, &quot;font_size&quot;: 22.0, &quot;bold&quot;: true, &quot;color&quot;: &quot;A8F0A2&quot;, &quot;line_height&quot;: 1.2, &quot;letter_spacing&quot;: null}}"/>
          <p:cNvSpPr txBox="1"/>
          <p:nvPr/>
        </p:nvSpPr>
        <p:spPr>
          <a:xfrm>
            <a:off x="8534399" y="2400300"/>
            <a:ext cx="292608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A8F0A2"/>
                </a:solidFill>
                <a:latin typeface="Noto Sans CJK SC"/>
                <a:ea typeface="Noto Sans CJK SC"/>
              </a:rPr>
              <a:t>增长稳定，Q3 加速</a:t>
            </a:r>
          </a:p>
        </p:txBody>
      </p:sp>
      <p:sp>
        <p:nvSpPr>
          <p:cNvPr id="6" name="da:p9-note" descr="{&quot;id&quot;: &quot;p9-note&quot;, &quot;text&quot;: &quot;Q1  56\nQ2  68（+12）\nQ3  82（+14）\nQ4  94（+12）\n\n累计 +38 点，Q3 增幅最大。&quot;, &quot;style&quot;: &quot;body_small&quot;, &quot;geometry&quot;: {&quot;x&quot;: 0.7, &quot;y&quot;: 0.42, &quot;w&quot;: 0.24, &quot;h&quot;: 0.33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8534399" y="2880360"/>
            <a:ext cx="2926080" cy="22631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Q1  56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Q2  68（+12）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Q3  82（+14）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Q4  94（+12）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累计 +38 点，Q3 增幅最大。</a:t>
            </a:r>
          </a:p>
        </p:txBody>
      </p:sp>
      <p:sp>
        <p:nvSpPr>
          <p:cNvPr id="7" name="da:p9-foot" descr="{&quot;id&quot;: &quot;p9-foot&quot;, &quot;text&quot;: &quot;演示模拟数据，不代表真实测试结果 ｜ 09 / 12&quot;, &quot;style&quot;: &quot;caption&quot;, &quot;anchor&quot;: &quot;footer&quot;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731520" y="6309360"/>
            <a:ext cx="10728959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演示模拟数据，不代表真实测试结果 ｜ 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slide-010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:p10-title" descr="{&quot;id&quot;: &quot;p10-title&quot;, &quot;text&quot;: &quot;可靠性来自四道闸门，而不是模型自觉&quot;, &quot;style&quot;: &quot;slide_title&quot;, &quot;anchor&quot;: &quot;title&quot;, &quot;kind&quot;: &quot;text&quot;, &quot;resolved_style&quot;: {&quot;style_token&quot;: &quot;slide_title&quot;, &quot;font_family&quot;: &quot;Noto Sans CJK SC&quot;, &quot;font_size&quot;: 32.0, &quot;bold&quot;: true, &quot;color&quot;: &quot;F2FBF6&quot;, &quot;line_height&quot;: 1.2, &quot;letter_spacing&quot;: null}}"/>
          <p:cNvSpPr txBox="1"/>
          <p:nvPr/>
        </p:nvSpPr>
        <p:spPr>
          <a:xfrm>
            <a:off x="853440" y="480060"/>
            <a:ext cx="10485119" cy="93829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2FBF6"/>
                </a:solidFill>
                <a:latin typeface="Noto Sans CJK SC"/>
                <a:ea typeface="Noto Sans CJK SC"/>
              </a:rPr>
              <a:t>可靠性来自四道闸门，而不是模型自觉</a:t>
            </a:r>
          </a:p>
        </p:txBody>
      </p:sp>
      <p:graphicFrame>
        <p:nvGraphicFramePr>
          <p:cNvPr id="3" name="da:p10-table" descr="{&quot;id&quot;: &quot;p10-table&quot;, &quot;rows&quot;: [[&quot;控制闸门&quot;, &quot;机制&quot;, &quot;产物证据&quot;], [&quot;01 权限&quot;, &quot;工具白名单、数据范围、人工确认点&quot;, &quot;授权记录&quot;], [&quot;02 隔离&quot;, &quot;沙箱运行、资源限额、网络边界&quot;, &quot;执行日志&quot;], [&quot;03 质量&quot;, &quot;结构校验、渲染检查、逐页审查&quot;, &quot;检查报告&quot;], [&quot;04 追溯&quot;, &quot;版本快照、操作记录、回滚&quot;, &quot;版本链&quot;]], &quot;geometry&quot;: {&quot;x&quot;: 0.07, &quot;y&quot;: 0.22, &quot;w&quot;: 0.54, &quot;h&quot;: 0.6}, &quot;kind&quot;: &quot;tabl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GraphicFramePr>
            <a:graphicFrameLocks noGrp="1"/>
          </p:cNvGraphicFramePr>
          <p:nvPr/>
        </p:nvGraphicFramePr>
        <p:xfrm>
          <a:off x="853440" y="1508760"/>
          <a:ext cx="658367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59"/>
                <a:gridCol w="2194559"/>
                <a:gridCol w="2194561"/>
              </a:tblGrid>
              <a:tr h="822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控制闸门</a:t>
                      </a:r>
                    </a:p>
                  </a:txBody>
                  <a:tcPr>
                    <a:solidFill>
                      <a:srgbClr val="1B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机制</a:t>
                      </a:r>
                    </a:p>
                  </a:txBody>
                  <a:tcPr>
                    <a:solidFill>
                      <a:srgbClr val="1B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产物证据</a:t>
                      </a:r>
                    </a:p>
                  </a:txBody>
                  <a:tcPr>
                    <a:solidFill>
                      <a:srgbClr val="1B3A4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01 权限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工具白名单、数据范围、人工确认点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授权记录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02 隔离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沙箱运行、资源限额、网络边界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执行日志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03 质量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结构校验、渲染检查、逐页审查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检查报告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04 追溯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版本快照、操作记录、回滚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BF6"/>
                          </a:solidFill>
                          <a:latin typeface="Noto Sans CJK SC"/>
                        </a:rPr>
                        <a:t>版本链</a:t>
                      </a:r>
                    </a:p>
                  </a:txBody>
                  <a:tcPr>
                    <a:solidFill>
                      <a:srgbClr val="080D18"/>
                    </a:solidFill>
                  </a:tcPr>
                </a:tc>
              </a:tr>
            </a:tbl>
          </a:graphicData>
        </a:graphic>
      </p:graphicFrame>
      <p:sp>
        <p:nvSpPr>
          <p:cNvPr id="4" name="da:p10-head" descr="{&quot;id&quot;: &quot;p10-head&quot;, &quot;text&quot;: &quot;四道闸门，互相补位&quot;, &quot;style&quot;: &quot;card_title&quot;, &quot;geometry&quot;: {&quot;x&quot;: 0.63, &quot;y&quot;: 0.24, &quot;w&quot;: 0.31, &quot;h&quot;: 0.06}, &quot;kind&quot;: &quot;text&quot;, &quot;resolved_style&quot;: {&quot;style_token&quot;: &quot;card_title&quot;, &quot;font_family&quot;: &quot;Noto Sans CJK SC&quot;, &quot;font_size&quot;: 22.0, &quot;bold&quot;: true, &quot;color&quot;: &quot;A8F0A2&quot;, &quot;line_height&quot;: 1.2, &quot;letter_spacing&quot;: null}}"/>
          <p:cNvSpPr txBox="1"/>
          <p:nvPr/>
        </p:nvSpPr>
        <p:spPr>
          <a:xfrm>
            <a:off x="7680959" y="1645920"/>
            <a:ext cx="377952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A8F0A2"/>
                </a:solidFill>
                <a:latin typeface="Noto Sans CJK SC"/>
                <a:ea typeface="Noto Sans CJK SC"/>
              </a:rPr>
              <a:t>四道闸门，互相补位</a:t>
            </a:r>
          </a:p>
        </p:txBody>
      </p:sp>
      <p:sp>
        <p:nvSpPr>
          <p:cNvPr id="5" name="da:p10-body" descr="{&quot;id&quot;: &quot;p10-body&quot;, &quot;text&quot;: &quot;权限决定“能不能做”。\n沙箱限定“在哪做”。\n审查判断“做得对不对”。\n版本记录回答“改了什么”。&quot;, &quot;style&quot;: &quot;body_small&quot;, &quot;geometry&quot;: {&quot;x&quot;: 0.63, &quot;y&quot;: 0.33, &quot;w&quot;: 0.31, &quot;h&quot;: 0.2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7680959" y="2263140"/>
            <a:ext cx="3779520" cy="17145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权限决定“能不能做”。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沙箱限定“在哪做”。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审查判断“做得对不对”。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版本记录回答“改了什么”。</a:t>
            </a:r>
          </a:p>
        </p:txBody>
      </p:sp>
      <p:sp>
        <p:nvSpPr>
          <p:cNvPr id="6" name="da:p10-rule" descr="{&quot;id&quot;: &quot;p10-rule&quot;, &quot;shape&quot;: &quot;rectangle&quot;, &quot;fill_token&quot;: &quot;border&quot;, &quot;layer&quot;: &quot;decoration&quot;, &quot;geometry&quot;: {&quot;x&quot;: 0.63, &quot;y&quot;: 0.62, &quot;w&quot;: 0.29, &quot;h&quot;: 0.001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27454F&quot;}"/>
          <p:cNvSpPr/>
          <p:nvPr/>
        </p:nvSpPr>
        <p:spPr>
          <a:xfrm>
            <a:off x="7680959" y="4251960"/>
            <a:ext cx="3535680" cy="10287"/>
          </a:xfrm>
          <a:prstGeom prst="rect">
            <a:avLst/>
          </a:prstGeom>
          <a:solidFill>
            <a:srgbClr val="27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:p10-conclusion" descr="{&quot;id&quot;: &quot;p10-conclusion&quot;, &quot;text&quot;: &quot;任一闸门失败，\n产物都不进入交付。&quot;, &quot;style&quot;: &quot;body&quot;, &quot;geometry&quot;: {&quot;x&quot;: 0.63, &quot;y&quot;: 0.65, &quot;w&quot;: 0.31, &quot;h&quot;: 0.1}, &quot;kind&quot;: &quot;text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}"/>
          <p:cNvSpPr txBox="1"/>
          <p:nvPr/>
        </p:nvSpPr>
        <p:spPr>
          <a:xfrm>
            <a:off x="7680959" y="4423410"/>
            <a:ext cx="3779520" cy="85725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任一闸门失败，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2000" b="0">
                <a:solidFill>
                  <a:srgbClr val="F2FBF6"/>
                </a:solidFill>
                <a:latin typeface="Noto Sans CJK SC"/>
                <a:ea typeface="Noto Sans CJK SC"/>
              </a:rPr>
              <a:t>产物都不进入交付。</a:t>
            </a:r>
          </a:p>
        </p:txBody>
      </p:sp>
      <p:sp>
        <p:nvSpPr>
          <p:cNvPr id="8" name="da:p10-source" descr="{&quot;id&quot;: &quot;p10-source&quot;, &quot;text&quot;: &quot;控制项为方案设计，非实测结果。&quot;, &quot;style&quot;: &quot;caption&quot;, &quot;geometry&quot;: {&quot;x&quot;: 0.07, &quot;y&quot;: 0.855, &quot;w&quot;: 0.54, &quot;h&quot;: 0.04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853440" y="5863590"/>
            <a:ext cx="6583679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控制项为方案设计，非实测结果。</a:t>
            </a:r>
          </a:p>
        </p:txBody>
      </p:sp>
      <p:sp>
        <p:nvSpPr>
          <p:cNvPr id="9" name="da:p10-foot" descr="{&quot;id&quot;: &quot;p10-foot&quot;, &quot;text&quot;: &quot;内部方案演示 ｜ 10 / 12&quot;, &quot;style&quot;: &quot;caption&quot;, &quot;anchor&quot;: &quot;footer&quot;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731520" y="6275070"/>
            <a:ext cx="10728959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内部方案演示 ｜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slide-011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:p11-title" descr="{&quot;id&quot;: &quot;p11-title&quot;, &quot;text&quot;: &quot;三阶段推进：先可信，再可用，后可规模化&quot;, &quot;style&quot;: &quot;slide_title&quot;, &quot;anchor&quot;: &quot;title&quot;, &quot;kind&quot;: &quot;text&quot;, &quot;resolved_style&quot;: {&quot;style_token&quot;: &quot;slide_title&quot;, &quot;font_family&quot;: &quot;Noto Sans CJK SC&quot;, &quot;font_size&quot;: 32.0, &quot;bold&quot;: true, &quot;color&quot;: &quot;F2FBF6&quot;, &quot;line_height&quot;: 1.2, &quot;letter_spacing&quot;: null}}"/>
          <p:cNvSpPr txBox="1"/>
          <p:nvPr/>
        </p:nvSpPr>
        <p:spPr>
          <a:xfrm>
            <a:off x="853440" y="480060"/>
            <a:ext cx="10485119" cy="80425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2FBF6"/>
                </a:solidFill>
                <a:latin typeface="Noto Sans CJK SC"/>
                <a:ea typeface="Noto Sans CJK SC"/>
              </a:rPr>
              <a:t>三阶段推进：先可信，再可用，后可规模化</a:t>
            </a:r>
          </a:p>
        </p:txBody>
      </p:sp>
      <p:cxnSp>
        <p:nvCxnSpPr>
          <p:cNvPr id="3" name="da:p11-axis" descr="{&quot;id&quot;: &quot;p11-axis&quot;, &quot;shape&quot;: &quot;line&quot;, &quot;fill_token&quot;: &quot;muted&quot;, &quot;layer&quot;: &quot;decoration&quot;, &quot;geometry&quot;: {&quot;x&quot;: 0.07, &quot;y&quot;: 0.3093, &quot;w&quot;: 0.86, &quot;h&quot;: 0.001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CxnSpPr/>
          <p:nvPr/>
        </p:nvCxnSpPr>
        <p:spPr>
          <a:xfrm>
            <a:off x="853440" y="2121179"/>
            <a:ext cx="7802879" cy="10287"/>
          </a:xfrm>
          <a:prstGeom prst="line">
            <a:avLst/>
          </a:prstGeom>
          <a:ln w="19050">
            <a:solidFill>
              <a:srgbClr val="A8F0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a:p11-dot1" descr="{&quot;id&quot;: &quot;p11-dot1&quot;, &quot;shape&quot;: &quot;ellipse&quot;, &quot;fill_token&quot;: &quot;accent&quot;, &quot;layer&quot;: &quot;decoration&quot;, &quot;geometry&quot;: {&quot;x&quot;: 0.19360000000000002, &quot;y&quot;: 0.296, &quot;w&quot;: 0.0128, &quot;h&quot;: 0.0128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836371" y="2029968"/>
            <a:ext cx="156058" cy="87782"/>
          </a:xfrm>
          <a:prstGeom prst="ellipse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da:p11-tick1" descr="{&quot;id&quot;: &quot;p11-tick1&quot;, &quot;shape&quot;: &quot;line&quot;, &quot;fill_token&quot;: &quot;border&quot;, &quot;layer&quot;: &quot;decoration&quot;, &quot;geometry&quot;: {&quot;x&quot;: 0.199, &quot;y&quot;: 0.318, &quot;w&quot;: 0.002, &quot;h&quot;: 0.028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CxnSpPr/>
          <p:nvPr/>
        </p:nvCxnSpPr>
        <p:spPr>
          <a:xfrm>
            <a:off x="902208" y="2180844"/>
            <a:ext cx="24384" cy="192024"/>
          </a:xfrm>
          <a:prstGeom prst="line">
            <a:avLst/>
          </a:prstGeom>
          <a:ln w="19050">
            <a:solidFill>
              <a:srgbClr val="A8F0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:p11-phase1" descr="{&quot;id&quot;: &quot;p11-phase1&quot;, &quot;text&quot;: &quot;PHASE 01&quot;, &quot;style&quot;: &quot;caption&quot;, &quot;align&quot;: &quot;center&quot;, &quot;geometry&quot;: {&quot;x&quot;: 0.07, &quot;y&quot;: 0.262, &quot;w&quot;: 0.26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1036320" y="1796796"/>
            <a:ext cx="286512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PHASE 01</a:t>
            </a:r>
          </a:p>
        </p:txBody>
      </p:sp>
      <p:sp>
        <p:nvSpPr>
          <p:cNvPr id="7" name="da:p11-name1" descr="{&quot;id&quot;: &quot;p11-name1&quot;, &quot;text&quot;: &quot;基础可信&quot;, &quot;style&quot;: &quot;card_title&quot;, &quot;align&quot;: &quot;center&quot;, &quot;geometry&quot;: {&quot;x&quot;: 0.07, &quot;y&quot;: 0.35, &quot;w&quot;: 0.26, &quot;h&quot;: 0.07}, &quot;kind&quot;: &quot;text&quot;, &quot;resolved_style&quot;: {&quot;style_token&quot;: &quot;card_title&quot;, &quot;font_family&quot;: &quot;Noto Sans CJK SC&quot;, &quot;font_size&quot;: 22.0, &quot;bold&quot;: true, &quot;color&quot;: &quot;A8F0A2&quot;, &quot;line_height&quot;: 1.2, &quot;letter_spacing&quot;: null}}"/>
          <p:cNvSpPr txBox="1"/>
          <p:nvPr/>
        </p:nvSpPr>
        <p:spPr>
          <a:xfrm>
            <a:off x="1036320" y="2400300"/>
            <a:ext cx="2865120" cy="4800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A8F0A2"/>
                </a:solidFill>
                <a:latin typeface="Noto Sans CJK SC"/>
                <a:ea typeface="Noto Sans CJK SC"/>
              </a:rPr>
              <a:t>基础可信</a:t>
            </a:r>
          </a:p>
        </p:txBody>
      </p:sp>
      <p:sp>
        <p:nvSpPr>
          <p:cNvPr id="8" name="da:p11-desc1" descr="{&quot;id&quot;: &quot;p11-desc1&quot;, &quot;text&quot;: &quot;Agent 执行 · 沙箱隔离\n权限规则 · 执行记录&quot;, &quot;style&quot;: &quot;body_small&quot;, &quot;align&quot;: &quot;center&quot;, &quot;geometry&quot;: {&quot;x&quot;: 0.07, &quot;y&quot;: 0.44, &quot;w&quot;: 0.26, &quot;h&quot;: 0.1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1036320" y="3017520"/>
            <a:ext cx="2865120" cy="6858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Agent 执行 · 沙箱隔离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权限规则 · 执行记录</a:t>
            </a:r>
          </a:p>
        </p:txBody>
      </p:sp>
      <p:sp>
        <p:nvSpPr>
          <p:cNvPr id="9" name="da:p11-dot2" descr="{&quot;id&quot;: &quot;p11-dot2&quot;, &quot;shape&quot;: &quot;ellipse&quot;, &quot;fill_token&quot;: &quot;accent&quot;, &quot;layer&quot;: &quot;decoration&quot;, &quot;geometry&quot;: {&quot;x&quot;: 0.4936, &quot;y&quot;: 0.296, &quot;w&quot;: 0.0128, &quot;h&quot;: 0.0128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4493971" y="2029968"/>
            <a:ext cx="156058" cy="87782"/>
          </a:xfrm>
          <a:prstGeom prst="ellipse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da:p11-tick2" descr="{&quot;id&quot;: &quot;p11-tick2&quot;, &quot;shape&quot;: &quot;line&quot;, &quot;fill_token&quot;: &quot;border&quot;, &quot;layer&quot;: &quot;decoration&quot;, &quot;geometry&quot;: {&quot;x&quot;: 0.499, &quot;y&quot;: 0.318, &quot;w&quot;: 0.002, &quot;h&quot;: 0.028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CxnSpPr/>
          <p:nvPr/>
        </p:nvCxnSpPr>
        <p:spPr>
          <a:xfrm>
            <a:off x="4559808" y="2180844"/>
            <a:ext cx="24384" cy="192024"/>
          </a:xfrm>
          <a:prstGeom prst="line">
            <a:avLst/>
          </a:prstGeom>
          <a:ln w="19050">
            <a:solidFill>
              <a:srgbClr val="A8F0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:p11-phase2" descr="{&quot;id&quot;: &quot;p11-phase2&quot;, &quot;text&quot;: &quot;PHASE 02&quot;, &quot;style&quot;: &quot;caption&quot;, &quot;align&quot;: &quot;center&quot;, &quot;geometry&quot;: {&quot;x&quot;: 0.37, &quot;y&quot;: 0.262, &quot;w&quot;: 0.26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4693920" y="1796796"/>
            <a:ext cx="286512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PHASE 02</a:t>
            </a:r>
          </a:p>
        </p:txBody>
      </p:sp>
      <p:sp>
        <p:nvSpPr>
          <p:cNvPr id="12" name="da:p11-name2" descr="{&quot;id&quot;: &quot;p11-name2&quot;, &quot;text&quot;: &quot;产物可用&quot;, &quot;style&quot;: &quot;card_title&quot;, &quot;align&quot;: &quot;center&quot;, &quot;geometry&quot;: {&quot;x&quot;: 0.37, &quot;y&quot;: 0.35, &quot;w&quot;: 0.26, &quot;h&quot;: 0.07}, &quot;kind&quot;: &quot;text&quot;, &quot;resolved_style&quot;: {&quot;style_token&quot;: &quot;card_title&quot;, &quot;font_family&quot;: &quot;Noto Sans CJK SC&quot;, &quot;font_size&quot;: 22.0, &quot;bold&quot;: true, &quot;color&quot;: &quot;A8F0A2&quot;, &quot;line_height&quot;: 1.2, &quot;letter_spacing&quot;: null}}"/>
          <p:cNvSpPr txBox="1"/>
          <p:nvPr/>
        </p:nvSpPr>
        <p:spPr>
          <a:xfrm>
            <a:off x="4693920" y="2400300"/>
            <a:ext cx="2865120" cy="4800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A8F0A2"/>
                </a:solidFill>
                <a:latin typeface="Noto Sans CJK SC"/>
                <a:ea typeface="Noto Sans CJK SC"/>
              </a:rPr>
              <a:t>产物可用</a:t>
            </a:r>
          </a:p>
        </p:txBody>
      </p:sp>
      <p:sp>
        <p:nvSpPr>
          <p:cNvPr id="13" name="da:p11-desc2" descr="{&quot;id&quot;: &quot;p11-desc2&quot;, &quot;text&quot;: &quot;Office 产物 · 版本管理\n逐页审查&quot;, &quot;style&quot;: &quot;body_small&quot;, &quot;align&quot;: &quot;center&quot;, &quot;geometry&quot;: {&quot;x&quot;: 0.37, &quot;y&quot;: 0.44, &quot;w&quot;: 0.26, &quot;h&quot;: 0.1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4693920" y="3017520"/>
            <a:ext cx="2865120" cy="6858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Office 产物 · 版本管理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逐页审查</a:t>
            </a:r>
          </a:p>
        </p:txBody>
      </p:sp>
      <p:sp>
        <p:nvSpPr>
          <p:cNvPr id="14" name="da:p11-dot3" descr="{&quot;id&quot;: &quot;p11-dot3&quot;, &quot;shape&quot;: &quot;ellipse&quot;, &quot;fill_token&quot;: &quot;accent&quot;, &quot;layer&quot;: &quot;decoration&quot;, &quot;geometry&quot;: {&quot;x&quot;: 0.8036000000000001, &quot;y&quot;: 0.296, &quot;w&quot;: 0.0128, &quot;h&quot;: 0.0128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8273491" y="2029968"/>
            <a:ext cx="156058" cy="87782"/>
          </a:xfrm>
          <a:prstGeom prst="ellipse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da:p11-tick3" descr="{&quot;id&quot;: &quot;p11-tick3&quot;, &quot;shape&quot;: &quot;line&quot;, &quot;fill_token&quot;: &quot;border&quot;, &quot;layer&quot;: &quot;decoration&quot;, &quot;geometry&quot;: {&quot;x&quot;: 0.809, &quot;y&quot;: 0.318, &quot;w&quot;: 0.002, &quot;h&quot;: 0.028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CxnSpPr/>
          <p:nvPr/>
        </p:nvCxnSpPr>
        <p:spPr>
          <a:xfrm>
            <a:off x="8339327" y="2180844"/>
            <a:ext cx="24384" cy="192024"/>
          </a:xfrm>
          <a:prstGeom prst="line">
            <a:avLst/>
          </a:prstGeom>
          <a:ln w="19050">
            <a:solidFill>
              <a:srgbClr val="A8F0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:p11-phase3" descr="{&quot;id&quot;: &quot;p11-phase3&quot;, &quot;text&quot;: &quot;PHASE 03&quot;, &quot;style&quot;: &quot;caption&quot;, &quot;align&quot;: &quot;center&quot;, &quot;geometry&quot;: {&quot;x&quot;: 0.68, &quot;y&quot;: 0.262, &quot;w&quot;: 0.26, &quot;h&quot;: 0.04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8473439" y="1796796"/>
            <a:ext cx="2865120" cy="30861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PHASE 03</a:t>
            </a:r>
          </a:p>
        </p:txBody>
      </p:sp>
      <p:sp>
        <p:nvSpPr>
          <p:cNvPr id="17" name="da:p11-name3" descr="{&quot;id&quot;: &quot;p11-name3&quot;, &quot;text&quot;: &quot;规模复制&quot;, &quot;style&quot;: &quot;card_title&quot;, &quot;align&quot;: &quot;center&quot;, &quot;geometry&quot;: {&quot;x&quot;: 0.68, &quot;y&quot;: 0.35, &quot;w&quot;: 0.26, &quot;h&quot;: 0.07}, &quot;kind&quot;: &quot;text&quot;, &quot;resolved_style&quot;: {&quot;style_token&quot;: &quot;card_title&quot;, &quot;font_family&quot;: &quot;Noto Sans CJK SC&quot;, &quot;font_size&quot;: 22.0, &quot;bold&quot;: true, &quot;color&quot;: &quot;A8F0A2&quot;, &quot;line_height&quot;: 1.2, &quot;letter_spacing&quot;: null}}"/>
          <p:cNvSpPr txBox="1"/>
          <p:nvPr/>
        </p:nvSpPr>
        <p:spPr>
          <a:xfrm>
            <a:off x="8473439" y="2400300"/>
            <a:ext cx="2865120" cy="4800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A8F0A2"/>
                </a:solidFill>
                <a:latin typeface="Noto Sans CJK SC"/>
                <a:ea typeface="Noto Sans CJK SC"/>
              </a:rPr>
              <a:t>规模复制</a:t>
            </a:r>
          </a:p>
        </p:txBody>
      </p:sp>
      <p:sp>
        <p:nvSpPr>
          <p:cNvPr id="18" name="da:p11-desc3" descr="{&quot;id&quot;: &quot;p11-desc3&quot;, &quot;text&quot;: &quot;企业模板 · 组件库\n质量评价 · 持续优化&quot;, &quot;style&quot;: &quot;body_small&quot;, &quot;align&quot;: &quot;center&quot;, &quot;geometry&quot;: {&quot;x&quot;: 0.68, &quot;y&quot;: 0.44, &quot;w&quot;: 0.26, &quot;h&quot;: 0.1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8473439" y="3017520"/>
            <a:ext cx="2865120" cy="6858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企业模板 · 组件库</a:t>
            </a:r>
          </a:p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质量评价 · 持续优化</a:t>
            </a:r>
          </a:p>
        </p:txBody>
      </p:sp>
      <p:sp>
        <p:nvSpPr>
          <p:cNvPr id="19" name="da:p11-gate" descr="{&quot;id&quot;: &quot;p11-gate&quot;, &quot;text&quot;: &quot;阶段门槛｜01 权限与记录可审计  →  02 产物可回滚  →  03 模板可复用&quot;, &quot;style&quot;: &quot;body_small&quot;, &quot;geometry&quot;: {&quot;x&quot;: 0.07, &quot;y&quot;: 0.62, &quot;w&quot;: 0.86, &quot;h&quot;: 0.06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853440" y="4251960"/>
            <a:ext cx="10485119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阶段门槛｜01 权限与记录可审计  →  02 产物可回滚  →  03 模板可复用</a:t>
            </a:r>
          </a:p>
        </p:txBody>
      </p:sp>
      <p:sp>
        <p:nvSpPr>
          <p:cNvPr id="21" name="da:p11-principle" descr="{&quot;id&quot;: &quot;p11-principle&quot;, &quot;text&quot;: &quot;推进原则｜不以日期为里程碑，以可验证的交付物作为阶段验收。&quot;, &quot;style&quot;: &quot;body_small&quot;, &quot;geometry&quot;: {&quot;x&quot;: 0.07, &quot;y&quot;: 0.765, &quot;w&quot;: 0.86, &quot;h&quot;: 0.05}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853440" y="5143500"/>
            <a:ext cx="10485119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推进原则｜不以日期为里程碑，以可验证的交付物作为阶段验收。</a:t>
            </a:r>
          </a:p>
        </p:txBody>
      </p:sp>
      <p:sp>
        <p:nvSpPr>
          <p:cNvPr id="22" name="da:p11-foot" descr="{&quot;id&quot;: &quot;p11-foot&quot;, &quot;text&quot;: &quot;内部方案演示 ｜ 11 / 12&quot;, &quot;style&quot;: &quot;caption&quot;, &quot;anchor&quot;: &quot;footer&quot;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731520" y="6309360"/>
            <a:ext cx="10728959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内部方案演示 ｜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slide-012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:p12-kicker" descr="{&quot;id&quot;: &quot;p12-kicker&quot;, &quot;text&quot;: &quot;结语 / CLOSING&quot;, &quot;style&quot;: &quot;caption&quot;, &quot;geometry&quot;: {&quot;x&quot;: 0.07, &quot;y&quot;: 0.12, &quot;w&quot;: 0.4, &quot;h&quot;: 0.05}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853440" y="822960"/>
            <a:ext cx="4876800" cy="3429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结语 / CLOSING</a:t>
            </a:r>
          </a:p>
        </p:txBody>
      </p:sp>
      <p:sp>
        <p:nvSpPr>
          <p:cNvPr id="3" name="da:p12-bar" descr="{&quot;id&quot;: &quot;p12-bar&quot;, &quot;shape&quot;: &quot;rectangle&quot;, &quot;fill_token&quot;: &quot;accent&quot;, &quot;layer&quot;: &quot;decoration&quot;, &quot;geometry&quot;: {&quot;x&quot;: 0.068, &quot;y&quot;: 0.305, &quot;w&quot;: 0.006, &quot;h&quot;: 0.175}, &quot;kind&quot;: &quot;shape&quot;, &quot;resolved_style&quot;: {&quot;style_token&quot;: &quot;body&quot;, &quot;font_family&quot;: &quot;Noto Sans CJK SC&quot;, &quot;font_size&quot;: 20.0, &quot;bold&quot;: false, &quot;color&quot;: &quot;F2FBF6&quot;, &quot;line_height&quot;: 1.35, &quot;letter_spacing&quot;: null}, &quot;fill&quot;: &quot;A8F0A2&quot;}"/>
          <p:cNvSpPr/>
          <p:nvPr/>
        </p:nvSpPr>
        <p:spPr>
          <a:xfrm>
            <a:off x="829056" y="2091690"/>
            <a:ext cx="73152" cy="1200150"/>
          </a:xfrm>
          <a:prstGeom prst="rect">
            <a:avLst/>
          </a:prstGeom>
          <a:solidFill>
            <a:srgbClr val="A8F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a:p12-statement" descr="{&quot;id&quot;: &quot;p12-statement&quot;, &quot;text&quot;: &quot;从智能生成，\n走向可信执行。&quot;, &quot;style&quot;: &quot;statement&quot;, &quot;anchor&quot;: &quot;statement&quot;, &quot;kind&quot;: &quot;text&quot;, &quot;resolved_style&quot;: {&quot;style_token&quot;: &quot;statement&quot;, &quot;font_family&quot;: &quot;Noto Sans CJK SC&quot;, &quot;font_size&quot;: 38.0, &quot;bold&quot;: true, &quot;color&quot;: &quot;F2FBF6&quot;, &quot;line_height&quot;: 1.25, &quot;letter_spacing&quot;: null}}"/>
          <p:cNvSpPr txBox="1"/>
          <p:nvPr/>
        </p:nvSpPr>
        <p:spPr>
          <a:xfrm>
            <a:off x="1330037" y="2088570"/>
            <a:ext cx="9531924" cy="201064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4200"/>
              </a:lnSpc>
              <a:spcAft>
                <a:spcPts val="400"/>
              </a:spcAft>
            </a:pPr>
            <a:r>
              <a:rPr sz="3800" b="1">
                <a:solidFill>
                  <a:srgbClr val="F2FBF6"/>
                </a:solidFill>
                <a:latin typeface="Noto Sans CJK SC"/>
                <a:ea typeface="Noto Sans CJK SC"/>
              </a:rPr>
              <a:t>从智能生成，</a:t>
            </a:r>
          </a:p>
          <a:p>
            <a:pPr>
              <a:lnSpc>
                <a:spcPct val="104200"/>
              </a:lnSpc>
              <a:spcAft>
                <a:spcPts val="400"/>
              </a:spcAft>
            </a:pPr>
            <a:r>
              <a:rPr sz="3800" b="1">
                <a:solidFill>
                  <a:srgbClr val="F2FBF6"/>
                </a:solidFill>
                <a:latin typeface="Noto Sans CJK SC"/>
                <a:ea typeface="Noto Sans CJK SC"/>
              </a:rPr>
              <a:t>走向可信执行。</a:t>
            </a:r>
          </a:p>
        </p:txBody>
      </p:sp>
      <p:sp>
        <p:nvSpPr>
          <p:cNvPr id="5" name="da:p12-support" descr="{&quot;id&quot;: &quot;p12-support&quot;, &quot;text&quot;: &quot;当权限、过程、产物与记录都可被验证，Agent 才真正进入企业工作流。&quot;, &quot;style&quot;: &quot;body_small&quot;, &quot;anchor&quot;: &quot;support&quot;, &quot;kind&quot;: &quot;text&quot;, &quot;resolved_style&quot;: {&quot;style_token&quot;: &quot;body_small&quot;, &quot;font_family&quot;: &quot;Noto Sans CJK SC&quot;, &quot;font_size&quot;: 16.0, &quot;bold&quot;: false, &quot;color&quot;: &quot;F2FBF6&quot;, &quot;line_height&quot;: 1.35, &quot;letter_spacing&quot;: null}}"/>
          <p:cNvSpPr txBox="1"/>
          <p:nvPr/>
        </p:nvSpPr>
        <p:spPr>
          <a:xfrm>
            <a:off x="1330037" y="4367298"/>
            <a:ext cx="8340437" cy="80425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12500"/>
              </a:lnSpc>
              <a:spcAft>
                <a:spcPts val="400"/>
              </a:spcAft>
            </a:pPr>
            <a:r>
              <a:rPr sz="1600" b="0">
                <a:solidFill>
                  <a:srgbClr val="F2FBF6"/>
                </a:solidFill>
                <a:latin typeface="Noto Sans CJK SC"/>
                <a:ea typeface="Noto Sans CJK SC"/>
              </a:rPr>
              <a:t>当权限、过程、产物与记录都可被验证，Agent 才真正进入企业工作流。</a:t>
            </a:r>
          </a:p>
        </p:txBody>
      </p:sp>
      <p:sp>
        <p:nvSpPr>
          <p:cNvPr id="6" name="da:p12-foot" descr="{&quot;id&quot;: &quot;p12-foot&quot;, &quot;text&quot;: &quot;AI Agent 企业工作台 ｜ 12 / 12&quot;, &quot;style&quot;: &quot;caption&quot;, &quot;anchor&quot;: &quot;footer&quot;, &quot;kind&quot;: &quot;text&quot;, &quot;resolved_style&quot;: {&quot;style_token&quot;: &quot;caption&quot;, &quot;font_family&quot;: &quot;Noto Sans CJK SC&quot;, &quot;font_size&quot;: 12.0, &quot;bold&quot;: false, &quot;color&quot;: &quot;9DB6C4&quot;, &quot;line_height&quot;: 1.2, &quot;letter_spacing&quot;: null}}"/>
          <p:cNvSpPr txBox="1"/>
          <p:nvPr/>
        </p:nvSpPr>
        <p:spPr>
          <a:xfrm>
            <a:off x="1219200" y="6172200"/>
            <a:ext cx="9753599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DB6C4"/>
                </a:solidFill>
                <a:latin typeface="Noto Sans CJK SC"/>
                <a:ea typeface="Noto Sans CJK SC"/>
              </a:rPr>
              <a:t>AI Agent 企业工作台 ｜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