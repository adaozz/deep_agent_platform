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tpl-001">
    <p:spTree>
      <p:nvGrpSpPr>
        <p:cNvPr id="1" name=""/>
        <p:cNvGrpSpPr/>
        <p:nvPr/>
      </p:nvGrpSpPr>
      <p:grpSpPr/>
      <p:sp>
        <p:nvSpPr>
          <p:cNvPr id="2" name="da:logo"/>
          <p:cNvSpPr/>
          <p:nvPr/>
        </p:nvSpPr>
        <p:spPr>
          <a:xfrm>
            <a:off x="10607040" y="320040"/>
            <a:ext cx="640080" cy="64008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a:title"/>
          <p:cNvSpPr txBox="1"/>
          <p:nvPr/>
        </p:nvSpPr>
        <p:spPr>
          <a:xfrm>
            <a:off x="731520" y="164592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B2430"/>
                </a:solidFill>
                <a:latin typeface="Liberation Sans"/>
              </a:rPr>
              <a:t>业务概览</a:t>
            </a:r>
          </a:p>
        </p:txBody>
      </p:sp>
      <p:sp>
        <p:nvSpPr>
          <p:cNvPr id="4" name="da:subtitle"/>
          <p:cNvSpPr txBox="1"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C6B7A"/>
                </a:solidFill>
                <a:latin typeface="Liberation Sans"/>
              </a:rPr>
              <a:t>咨询简报</a:t>
            </a:r>
            <a:r>
              <a:rPr sz="2000" i="1">
                <a:solidFill>
                  <a:srgbClr val="5C6B7A"/>
                </a:solidFill>
              </a:rPr>
              <a:t> 保留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tpl-002">
    <p:spTree>
      <p:nvGrpSpPr>
        <p:cNvPr id="1" name=""/>
        <p:cNvGrpSpPr/>
        <p:nvPr/>
      </p:nvGrpSpPr>
      <p:grpSpPr/>
      <p:sp>
        <p:nvSpPr>
          <p:cNvPr id="2" name="da:title"/>
          <p:cNvSpPr txBox="1"/>
          <p:nvPr/>
        </p:nvSpPr>
        <p:spPr>
          <a:xfrm>
            <a:off x="73152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B2430"/>
                </a:solidFill>
                <a:latin typeface="Liberation Sans"/>
              </a:rPr>
              <a:t>章节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tpl-003">
    <p:spTree>
      <p:nvGrpSpPr>
        <p:cNvPr id="1" name=""/>
        <p:cNvGrpSpPr/>
        <p:nvPr/>
      </p:nvGrpSpPr>
      <p:grpSpPr/>
      <p:sp>
        <p:nvSpPr>
          <p:cNvPr id="2" name="da:title"/>
          <p:cNvSpPr txBox="1"/>
          <p:nvPr/>
        </p:nvSpPr>
        <p:spPr>
          <a:xfrm>
            <a:off x="54864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430"/>
                </a:solidFill>
                <a:latin typeface="Liberation Sans"/>
              </a:rPr>
              <a:t>方案对比</a:t>
            </a:r>
          </a:p>
        </p:txBody>
      </p:sp>
      <p:sp>
        <p:nvSpPr>
          <p:cNvPr id="3" name="da:left_title"/>
          <p:cNvSpPr txBox="1"/>
          <p:nvPr/>
        </p:nvSpPr>
        <p:spPr>
          <a:xfrm>
            <a:off x="54864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Liberation Sans"/>
              </a:rPr>
              <a:t>现状</a:t>
            </a:r>
          </a:p>
        </p:txBody>
      </p:sp>
      <p:sp>
        <p:nvSpPr>
          <p:cNvPr id="4" name="da:left_body"/>
          <p:cNvSpPr txBox="1"/>
          <p:nvPr/>
        </p:nvSpPr>
        <p:spPr>
          <a:xfrm>
            <a:off x="54864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2430"/>
                </a:solidFill>
                <a:latin typeface="Liberation Sans"/>
              </a:rPr>
              <a:t>分散的执行记录</a:t>
            </a:r>
          </a:p>
        </p:txBody>
      </p:sp>
      <p:sp>
        <p:nvSpPr>
          <p:cNvPr id="5" name="da:right_title"/>
          <p:cNvSpPr txBox="1"/>
          <p:nvPr/>
        </p:nvSpPr>
        <p:spPr>
          <a:xfrm>
            <a:off x="6217920" y="1463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2545"/>
                </a:solidFill>
                <a:latin typeface="Liberation Sans"/>
              </a:rPr>
              <a:t>目标</a:t>
            </a:r>
          </a:p>
        </p:txBody>
      </p:sp>
      <p:sp>
        <p:nvSpPr>
          <p:cNvPr id="6" name="da:right_body"/>
          <p:cNvSpPr txBox="1"/>
          <p:nvPr/>
        </p:nvSpPr>
        <p:spPr>
          <a:xfrm>
            <a:off x="621792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B2430"/>
                </a:solidFill>
                <a:latin typeface="Liberation Sans"/>
              </a:rPr>
              <a:t>沿用同一套版式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a-slide:tpl-004">
    <p:spTree>
      <p:nvGrpSpPr>
        <p:cNvPr id="1" name=""/>
        <p:cNvGrpSpPr/>
        <p:nvPr/>
      </p:nvGrpSpPr>
      <p:grpSpPr/>
      <p:sp>
        <p:nvSpPr>
          <p:cNvPr id="2" name="da:title"/>
          <p:cNvSpPr txBox="1"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430"/>
                </a:solidFill>
                <a:latin typeface="Liberation Sans"/>
              </a:rPr>
              <a:t>业绩</a:t>
            </a:r>
          </a:p>
        </p:txBody>
      </p:sp>
      <p:sp>
        <p:nvSpPr>
          <p:cNvPr id="3" name="da:band"/>
          <p:cNvSpPr/>
          <p:nvPr/>
        </p:nvSpPr>
        <p:spPr>
          <a:xfrm>
            <a:off x="548640" y="1097280"/>
            <a:ext cx="164592" cy="43891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da:chart"/>
          <p:cNvGraphicFramePr>
            <a:graphicFrameLocks noGrp="1"/>
          </p:cNvGraphicFramePr>
          <p:nvPr/>
        </p:nvGraphicFramePr>
        <p:xfrm>
          <a:off x="1005840" y="1280160"/>
          <a:ext cx="56692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da:photo" descr="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63040"/>
            <a:ext cx="3657600" cy="1828800"/>
          </a:xfrm>
          <a:prstGeom prst="rect">
            <a:avLst/>
          </a:prstGeom>
        </p:spPr>
      </p:pic>
      <p:sp>
        <p:nvSpPr>
          <p:cNvPr id="6" name="da:note"/>
          <p:cNvSpPr/>
          <p:nvPr/>
        </p:nvSpPr>
        <p:spPr>
          <a:xfrm>
            <a:off x="7315200" y="3657600"/>
            <a:ext cx="1097280" cy="3657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:footnote"/>
          <p:cNvSpPr txBox="1"/>
          <p:nvPr/>
        </p:nvSpPr>
        <p:spPr>
          <a:xfrm>
            <a:off x="7315200" y="42976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C6B7A"/>
                </a:solidFill>
                <a:latin typeface="Liberation Sans"/>
              </a:rPr>
              <a:t>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B2430"/>
      </a:dk1>
      <a:lt1>
        <a:srgbClr val="FFFFFF"/>
      </a:lt1>
      <a:dk2>
        <a:srgbClr val="5C6B7A"/>
      </a:dk2>
      <a:lt2>
        <a:srgbClr val="EEECE1"/>
      </a:lt2>
      <a:accent1>
        <a:srgbClr val="0B2545"/>
      </a:accent1>
      <a:accent2>
        <a:srgbClr val="5C6B7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